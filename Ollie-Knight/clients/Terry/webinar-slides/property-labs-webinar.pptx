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99713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ECFA0"/>
                </a:solidFill>
                <a:latin typeface="Calibri"/>
              </a:rPr>
              <a:t>PROPERTY LABS PRESENTS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/>
            <a:r>
              <a:rPr sz="6400" b="1" i="0">
                <a:solidFill>
                  <a:srgbClr val="3ECFA0"/>
                </a:solidFill>
                <a:latin typeface="Calibri"/>
              </a:rPr>
              <a:t>The 3C System:</a:t>
            </a:r>
          </a:p>
          <a:p>
            <a:pPr algn="ctr"/>
            <a:r>
              <a:rPr sz="6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How Complete Beginners Are Launching
Profitable Airbnbs in 90 Days</a:t>
            </a:r>
          </a:p>
          <a:p>
            <a:pPr algn="ctr"/>
            <a:r>
              <a:rPr sz="20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/>
            <a:r>
              <a:rPr sz="1200" b="1" i="0">
                <a:solidFill>
                  <a:srgbClr val="282828"/>
                </a:solidFill>
                <a:latin typeface="Calibri"/>
              </a:rPr>
              <a:t>PROPERTY LABS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99713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ECFA0"/>
                </a:solidFill>
                <a:latin typeface="Calibri"/>
              </a:rPr>
              <a:t>TONIGHT'S HOST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/>
            <a:r>
              <a:rPr sz="6000" b="1" i="0">
                <a:solidFill>
                  <a:srgbClr val="FFFFFF"/>
                </a:solidFill>
                <a:latin typeface="Calibri"/>
              </a:rPr>
              <a:t>Terry Dwobeng</a:t>
            </a:r>
          </a:p>
          <a:p>
            <a:pPr algn="ctr"/>
            <a:r>
              <a:rPr sz="6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/>
            <a:r>
              <a:rPr sz="2400" b="0" i="0">
                <a:solidFill>
                  <a:srgbClr val="B3B3B3"/>
                </a:solidFill>
                <a:latin typeface="Calibri"/>
              </a:rPr>
              <a:t>Founder, Property Labs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/>
            <a:r>
              <a:rPr sz="1800" b="0" i="0">
                <a:solidFill>
                  <a:srgbClr val="787878"/>
                </a:solidFill>
                <a:latin typeface="Calibri"/>
              </a:rPr>
              <a:t>14 Units · £50k/month Revenue · Zero Own Capital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99713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  <a:latin typeface="Calibri"/>
              </a:rPr>
              <a:t>Tonight is </a:t>
            </a:r>
          </a:p>
          <a:p>
            <a:pPr algn="ctr"/>
            <a:r>
              <a:rPr sz="5200" b="1" i="0">
                <a:solidFill>
                  <a:srgbClr val="3ECFA0"/>
                </a:solidFill>
                <a:latin typeface="Calibri"/>
              </a:rPr>
              <a:t>unlike anything</a:t>
            </a:r>
          </a:p>
          <a:p>
            <a:pPr algn="ctr"/>
            <a:r>
              <a:rPr sz="5200" b="1" i="0">
                <a:solidFill>
                  <a:srgbClr val="FFFFFF"/>
                </a:solidFill>
                <a:latin typeface="Calibri"/>
              </a:rPr>
              <a:t>you've ever sat through.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99713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B3B3B3"/>
                </a:solidFill>
                <a:latin typeface="Calibri"/>
              </a:rPr>
              <a:t>No filler.</a:t>
            </a:r>
          </a:p>
          <a:p>
            <a:pPr algn="ctr"/>
            <a:r>
              <a:rPr sz="6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/>
            <a:r>
              <a:rPr sz="5200" b="1" i="0">
                <a:solidFill>
                  <a:srgbClr val="FFFFFF"/>
                </a:solidFill>
                <a:latin typeface="Calibri"/>
              </a:rPr>
              <a:t>Just the exact system
that changed my life.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99713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3ECFA0"/>
                </a:solidFill>
                <a:latin typeface="Calibri"/>
              </a:rPr>
              <a:t>What if I told you</a:t>
            </a:r>
          </a:p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/>
            <a:r>
              <a:rPr sz="6400" b="1" i="0">
                <a:solidFill>
                  <a:srgbClr val="FFFFFF"/>
                </a:solidFill>
                <a:latin typeface="Calibri"/>
              </a:rPr>
              <a:t>Let Me Read Your Mind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80160" y="914400"/>
            <a:ext cx="999713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0" i="0">
                <a:solidFill>
                  <a:srgbClr val="FFFFFF"/>
                </a:solidFill>
                <a:latin typeface="Calibri"/>
              </a:rPr>
              <a:t>You have a good job.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80160" y="914400"/>
            <a:ext cx="999713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0" i="0">
                <a:solidFill>
                  <a:srgbClr val="FFFFFF"/>
                </a:solidFill>
                <a:latin typeface="Calibri"/>
              </a:rPr>
              <a:t>You have a good job.</a:t>
            </a:r>
          </a:p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3600" b="1" i="0">
                <a:solidFill>
                  <a:srgbClr val="3ECFA0"/>
                </a:solidFill>
                <a:latin typeface="Calibri"/>
              </a:rPr>
              <a:t>But there's a voice that says…</a:t>
            </a:r>
          </a:p>
          <a:p>
            <a:pPr algn="l"/>
            <a:r>
              <a:rPr sz="6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5200" b="0" i="0">
                <a:solidFill>
                  <a:srgbClr val="FFFFFF"/>
                </a:solidFill>
                <a:latin typeface="Calibri"/>
              </a:rPr>
              <a:t>"Is this it?"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80160" y="914400"/>
            <a:ext cx="999713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0" i="0">
                <a:solidFill>
                  <a:srgbClr val="FFFFFF"/>
                </a:solidFill>
                <a:latin typeface="Calibri"/>
              </a:rPr>
              <a:t>You've thought about property.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80160" y="914400"/>
            <a:ext cx="999713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0" i="0">
                <a:solidFill>
                  <a:srgbClr val="FFFFFF"/>
                </a:solidFill>
                <a:latin typeface="Calibri"/>
              </a:rPr>
              <a:t>You've thought about property.</a:t>
            </a:r>
          </a:p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3600" b="1" i="0">
                <a:solidFill>
                  <a:srgbClr val="3ECFA0"/>
                </a:solidFill>
                <a:latin typeface="Calibri"/>
              </a:rPr>
              <a:t>But every time you look into it…</a:t>
            </a:r>
          </a:p>
          <a:p>
            <a:pPr algn="l"/>
            <a:r>
              <a:rPr sz="6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3600" b="0" i="0">
                <a:solidFill>
                  <a:srgbClr val="B3B3B3"/>
                </a:solidFill>
                <a:latin typeface="Calibri"/>
              </a:rPr>
              <a:t>You close the tab.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80160" y="914400"/>
            <a:ext cx="999713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0" i="0">
                <a:solidFill>
                  <a:srgbClr val="FFFFFF"/>
                </a:solidFill>
                <a:latin typeface="Calibri"/>
              </a:rPr>
              <a:t>Money wasn't handed to you.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80160" y="914400"/>
            <a:ext cx="999713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0" i="0">
                <a:solidFill>
                  <a:srgbClr val="FFFFFF"/>
                </a:solidFill>
                <a:latin typeface="Calibri"/>
              </a:rPr>
              <a:t>Money wasn't handed to you.</a:t>
            </a:r>
          </a:p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3600" b="1" i="0">
                <a:solidFill>
                  <a:srgbClr val="3ECFA0"/>
                </a:solidFill>
                <a:latin typeface="Calibri"/>
              </a:rPr>
              <a:t>No trust fund.</a:t>
            </a:r>
          </a:p>
          <a:p>
            <a:pPr algn="l"/>
            <a:r>
              <a:rPr sz="3600" b="1" i="0">
                <a:solidFill>
                  <a:srgbClr val="3ECFA0"/>
                </a:solidFill>
                <a:latin typeface="Calibri"/>
              </a:rPr>
              <a:t>No Bank of Mum and Dad.</a:t>
            </a:r>
          </a:p>
          <a:p>
            <a:pPr algn="l"/>
            <a:r>
              <a:rPr sz="6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3600" b="0" i="0">
                <a:solidFill>
                  <a:srgbClr val="B3B3B3"/>
                </a:solidFill>
                <a:latin typeface="Calibri"/>
              </a:rPr>
              <a:t>Just you.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80160" y="914400"/>
            <a:ext cx="999713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0" i="0">
                <a:solidFill>
                  <a:srgbClr val="FFFFFF"/>
                </a:solidFill>
                <a:latin typeface="Calibri"/>
              </a:rPr>
              <a:t>You're tired.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80160" y="914400"/>
            <a:ext cx="999713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0" i="0">
                <a:solidFill>
                  <a:srgbClr val="FFFFFF"/>
                </a:solidFill>
                <a:latin typeface="Calibri"/>
              </a:rPr>
              <a:t>You're tired.</a:t>
            </a:r>
          </a:p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3600" b="1" i="0">
                <a:solidFill>
                  <a:srgbClr val="3ECFA0"/>
                </a:solidFill>
                <a:latin typeface="Calibri"/>
              </a:rPr>
              <a:t>Not physically.</a:t>
            </a:r>
          </a:p>
          <a:p>
            <a:pPr algn="l"/>
            <a:r>
              <a:rPr sz="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3600" b="0" i="0">
                <a:solidFill>
                  <a:srgbClr val="B3B3B3"/>
                </a:solidFill>
                <a:latin typeface="Calibri"/>
              </a:rPr>
              <a:t>Mentally.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80160" y="914400"/>
            <a:ext cx="999713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FFFFFF"/>
                </a:solidFill>
                <a:latin typeface="Calibri"/>
              </a:rPr>
              <a:t>Deep down, you believe you're capable of more.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80160" y="914400"/>
            <a:ext cx="999713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FFFFFF"/>
                </a:solidFill>
                <a:latin typeface="Calibri"/>
              </a:rPr>
              <a:t>Deep down, you believe you're capable of more.</a:t>
            </a:r>
          </a:p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4000" b="1" i="0">
                <a:solidFill>
                  <a:srgbClr val="3ECFA0"/>
                </a:solidFill>
                <a:latin typeface="Calibri"/>
              </a:rPr>
              <a:t>You just don't have the system.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99713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B3B3B3"/>
                </a:solidFill>
                <a:latin typeface="Calibri"/>
              </a:rPr>
              <a:t>I know, because I was there.</a:t>
            </a:r>
          </a:p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/>
            <a:r>
              <a:rPr sz="5600" b="1" i="0">
                <a:solidFill>
                  <a:srgbClr val="FFFFFF"/>
                </a:solidFill>
                <a:latin typeface="Calibri"/>
              </a:rPr>
              <a:t>57 nights on an </a:t>
            </a:r>
          </a:p>
          <a:p>
            <a:pPr algn="ctr"/>
            <a:r>
              <a:rPr sz="5600" b="1" i="0">
                <a:solidFill>
                  <a:srgbClr val="3ECFA0"/>
                </a:solidFill>
                <a:latin typeface="Calibri"/>
              </a:rPr>
              <a:t>air mattress.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99713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ECFA0"/>
                </a:solidFill>
                <a:latin typeface="Calibri"/>
              </a:rPr>
              <a:t>TODAY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/>
            <a:r>
              <a:rPr sz="4800" b="1" i="0">
                <a:solidFill>
                  <a:srgbClr val="FFFFFF"/>
                </a:solidFill>
                <a:latin typeface="Calibri"/>
              </a:rPr>
              <a:t>14 units.  £50,000/month revenue.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/>
            <a:r>
              <a:rPr sz="4000" b="1" i="0">
                <a:solidFill>
                  <a:srgbClr val="3ECFA0"/>
                </a:solidFill>
                <a:latin typeface="Calibri"/>
              </a:rPr>
              <a:t>Zero of my own money.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99713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0" b="1" i="0">
                <a:solidFill>
                  <a:srgbClr val="3ECFA0"/>
                </a:solidFill>
                <a:latin typeface="Calibri"/>
              </a:rPr>
              <a:t>Zero.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/>
            <a:r>
              <a:rPr sz="2200" b="0" i="0">
                <a:solidFill>
                  <a:srgbClr val="B3B3B3"/>
                </a:solidFill>
                <a:latin typeface="Calibri"/>
              </a:rPr>
              <a:t>Not a penny of my own capital.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99713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ECFA0"/>
                </a:solidFill>
                <a:latin typeface="Calibri"/>
              </a:rPr>
              <a:t>TONIGHT I'M REVEALING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/>
            <a:r>
              <a:rPr sz="6400" b="1" i="0">
                <a:solidFill>
                  <a:srgbClr val="3ECFA0"/>
                </a:solidFill>
                <a:latin typeface="Calibri"/>
              </a:rPr>
              <a:t>The 3C System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/>
            <a:r>
              <a:rPr sz="2400" b="0" i="0">
                <a:solidFill>
                  <a:srgbClr val="B3B3B3"/>
                </a:solidFill>
                <a:latin typeface="Calibri"/>
              </a:rPr>
              <a:t>The exact framework I used.
The exact framework complete beginners are using right now.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99713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 i="0">
                <a:solidFill>
                  <a:srgbClr val="3ECFA0"/>
                </a:solidFill>
                <a:latin typeface="Calibri"/>
              </a:rPr>
              <a:t>Complete beginners.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/>
            <a:r>
              <a:rPr sz="3200" b="0" i="0">
                <a:solidFill>
                  <a:srgbClr val="B3B3B3"/>
                </a:solidFill>
                <a:latin typeface="Calibri"/>
              </a:rPr>
              <a:t>No experience. No capital. No connections.</a:t>
            </a:r>
          </a:p>
          <a:p>
            <a:pPr algn="ctr"/>
            <a:r>
              <a:rPr sz="6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All profitable inside 90 days.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99713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  <a:latin typeface="Calibri"/>
              </a:rPr>
              <a:t>But first.</a:t>
            </a:r>
          </a:p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/>
            <a:r>
              <a:rPr sz="3200" b="0" i="0">
                <a:solidFill>
                  <a:srgbClr val="B3B3B3"/>
                </a:solidFill>
                <a:latin typeface="Calibri"/>
              </a:rPr>
              <a:t>Let's talk about the path
you were </a:t>
            </a:r>
          </a:p>
          <a:p>
            <a:pPr algn="ctr"/>
            <a:r>
              <a:rPr sz="3200" b="1" i="0">
                <a:solidFill>
                  <a:srgbClr val="3ECFA0"/>
                </a:solidFill>
                <a:latin typeface="Calibri"/>
              </a:rPr>
              <a:t>sold.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99713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ECFA0"/>
                </a:solidFill>
                <a:latin typeface="Calibri"/>
              </a:rPr>
              <a:t>THE TRADITIONAL PATH TO PROPERTY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Save → Mortgage → 1 Property</a:t>
            </a:r>
          </a:p>
          <a:p>
            <a:pPr algn="ctr"/>
            <a:r>
              <a:rPr sz="6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/>
            <a:r>
              <a:rPr sz="3600" b="0" i="0">
                <a:solidFill>
                  <a:srgbClr val="B3B3B3"/>
                </a:solidFill>
                <a:latin typeface="Calibri"/>
              </a:rPr>
              <a:t>Wait → Repeat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99713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ECFA0"/>
                </a:solidFill>
                <a:latin typeface="Calibri"/>
              </a:rPr>
              <a:t>THE PROBLEM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/>
            <a:r>
              <a:rPr sz="3600" b="0" i="0">
                <a:solidFill>
                  <a:srgbClr val="FFFFFF"/>
                </a:solidFill>
                <a:latin typeface="Calibri"/>
              </a:rPr>
              <a:t>Average house price</a:t>
            </a:r>
          </a:p>
          <a:p>
            <a:pPr algn="ctr"/>
            <a:r>
              <a:rPr sz="6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/>
            <a:r>
              <a:rPr sz="8800" b="1" i="0">
                <a:solidFill>
                  <a:srgbClr val="3ECFA0"/>
                </a:solidFill>
                <a:latin typeface="Calibri"/>
              </a:rPr>
              <a:t>£290,000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99713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B3B3B3"/>
                </a:solidFill>
                <a:latin typeface="Calibri"/>
              </a:rPr>
              <a:t>Average UK salary</a:t>
            </a:r>
          </a:p>
          <a:p>
            <a:pPr algn="ctr"/>
            <a:r>
              <a:rPr sz="6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/>
            <a:r>
              <a:rPr sz="8800" b="1" i="0">
                <a:solidFill>
                  <a:srgbClr val="3ECFA0"/>
                </a:solidFill>
                <a:latin typeface="Calibri"/>
              </a:rPr>
              <a:t>£34,000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99713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 i="0">
                <a:solidFill>
                  <a:srgbClr val="3ECFA0"/>
                </a:solidFill>
                <a:latin typeface="Calibri"/>
              </a:rPr>
              <a:t>4–6 years</a:t>
            </a:r>
          </a:p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 of aggressive saving.</a:t>
            </a:r>
          </a:p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/>
            <a:r>
              <a:rPr sz="2400" b="0" i="0">
                <a:solidFill>
                  <a:srgbClr val="B3B3B3"/>
                </a:solidFill>
                <a:latin typeface="Calibri"/>
              </a:rPr>
              <a:t>For one property. One.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99713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1">
                <a:solidFill>
                  <a:srgbClr val="FFFFFF"/>
                </a:solidFill>
                <a:latin typeface="Calibri"/>
              </a:rPr>
              <a:t>That's not a wealth strategy.</a:t>
            </a:r>
          </a:p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/>
            <a:r>
              <a:rPr sz="5600" b="1" i="0">
                <a:solidFill>
                  <a:srgbClr val="3ECFA0"/>
                </a:solidFill>
                <a:latin typeface="Calibri"/>
              </a:rPr>
              <a:t>That's a treadmill.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99713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ECFA0"/>
                </a:solidFill>
                <a:latin typeface="Calibri"/>
              </a:rPr>
              <a:t>WHAT'S ACTUALLY HOLDING YOU BACK</a:t>
            </a:r>
          </a:p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/>
            <a:r>
              <a:rPr sz="8000" b="1" i="0">
                <a:solidFill>
                  <a:srgbClr val="3ECFA0"/>
                </a:solidFill>
                <a:latin typeface="Calibri"/>
              </a:rPr>
              <a:t>5 Misconceptions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/>
            <a:r>
              <a:rPr sz="2000" b="0" i="0">
                <a:solidFill>
                  <a:srgbClr val="B3B3B3"/>
                </a:solidFill>
                <a:latin typeface="Calibri"/>
              </a:rPr>
              <a:t>Every single one is keeping you stuck. Let's destroy them.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80160" y="914400"/>
            <a:ext cx="999713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 i="0">
                <a:solidFill>
                  <a:srgbClr val="1E3C2D"/>
                </a:solidFill>
                <a:latin typeface="Calibri"/>
              </a:rPr>
              <a:t>#1</a:t>
            </a:r>
          </a:p>
          <a:p>
            <a:pPr algn="l"/>
            <a:r>
              <a:rPr sz="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3200" b="0" i="0">
                <a:solidFill>
                  <a:srgbClr val="B3B3B3"/>
                </a:solidFill>
                <a:latin typeface="Calibri"/>
              </a:rPr>
              <a:t>You need your own money to start.</a:t>
            </a:r>
          </a:p>
          <a:p>
            <a:pPr algn="l"/>
            <a:r>
              <a:rPr sz="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4800" b="1" i="0">
                <a:solidFill>
                  <a:srgbClr val="3ECFA0"/>
                </a:solidFill>
                <a:latin typeface="Calibri"/>
              </a:rPr>
              <a:t>FALSE.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80160" y="914400"/>
            <a:ext cx="999713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B3B3B3"/>
                </a:solidFill>
                <a:latin typeface="Calibri"/>
              </a:rPr>
              <a:t>Other people's capital exists.</a:t>
            </a:r>
          </a:p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Your credibility </a:t>
            </a:r>
          </a:p>
          <a:p>
            <a:pPr algn="l"/>
            <a:r>
              <a:rPr sz="4400" b="1" i="0">
                <a:solidFill>
                  <a:srgbClr val="3ECFA0"/>
                </a:solidFill>
                <a:latin typeface="Calibri"/>
              </a:rPr>
              <a:t>IS</a:t>
            </a:r>
          </a:p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 the capital.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80160" y="914400"/>
            <a:ext cx="999713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 i="0">
                <a:solidFill>
                  <a:srgbClr val="1E3C2D"/>
                </a:solidFill>
                <a:latin typeface="Calibri"/>
              </a:rPr>
              <a:t>#2</a:t>
            </a:r>
          </a:p>
          <a:p>
            <a:pPr algn="l"/>
            <a:r>
              <a:rPr sz="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3200" b="0" i="0">
                <a:solidFill>
                  <a:srgbClr val="B3B3B3"/>
                </a:solidFill>
                <a:latin typeface="Calibri"/>
              </a:rPr>
              <a:t>You need years of experience.</a:t>
            </a:r>
          </a:p>
          <a:p>
            <a:pPr algn="l"/>
            <a:r>
              <a:rPr sz="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4800" b="1" i="0">
                <a:solidFill>
                  <a:srgbClr val="3ECFA0"/>
                </a:solidFill>
                <a:latin typeface="Calibri"/>
              </a:rPr>
              <a:t>FALSE.</a:t>
            </a:r>
          </a:p>
          <a:p>
            <a:pPr algn="l"/>
            <a:r>
              <a:rPr sz="6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800" b="0" i="0">
                <a:solidFill>
                  <a:srgbClr val="B3B3B3"/>
                </a:solidFill>
                <a:latin typeface="Calibri"/>
              </a:rPr>
              <a:t>Ihab — zero experience. £25k raised. 2 Airbnbs live. 5 weeks.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80160" y="914400"/>
            <a:ext cx="999713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 i="0">
                <a:solidFill>
                  <a:srgbClr val="1E3C2D"/>
                </a:solidFill>
                <a:latin typeface="Calibri"/>
              </a:rPr>
              <a:t>#3</a:t>
            </a:r>
          </a:p>
          <a:p>
            <a:pPr algn="l"/>
            <a:r>
              <a:rPr sz="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3200" b="0" i="0">
                <a:solidFill>
                  <a:srgbClr val="B3B3B3"/>
                </a:solidFill>
                <a:latin typeface="Calibri"/>
              </a:rPr>
              <a:t>Airbnb is saturated.</a:t>
            </a:r>
          </a:p>
          <a:p>
            <a:pPr algn="l"/>
            <a:r>
              <a:rPr sz="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4800" b="1" i="0">
                <a:solidFill>
                  <a:srgbClr val="3ECFA0"/>
                </a:solidFill>
                <a:latin typeface="Calibri"/>
              </a:rPr>
              <a:t>FALSE.</a:t>
            </a:r>
          </a:p>
          <a:p>
            <a:pPr algn="l"/>
            <a:r>
              <a:rPr sz="6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800" b="0" i="0">
                <a:solidFill>
                  <a:srgbClr val="B3B3B3"/>
                </a:solidFill>
                <a:latin typeface="Calibri"/>
              </a:rPr>
              <a:t>93,000 landlords left the market last year. The space just got bigger.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80160" y="914400"/>
            <a:ext cx="999713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 i="0">
                <a:solidFill>
                  <a:srgbClr val="1E3C2D"/>
                </a:solidFill>
                <a:latin typeface="Calibri"/>
              </a:rPr>
              <a:t>#4</a:t>
            </a:r>
          </a:p>
          <a:p>
            <a:pPr algn="l"/>
            <a:r>
              <a:rPr sz="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3200" b="0" i="0">
                <a:solidFill>
                  <a:srgbClr val="B3B3B3"/>
                </a:solidFill>
                <a:latin typeface="Calibri"/>
              </a:rPr>
              <a:t>You need to quit your job.</a:t>
            </a:r>
          </a:p>
          <a:p>
            <a:pPr algn="l"/>
            <a:r>
              <a:rPr sz="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4800" b="1" i="0">
                <a:solidFill>
                  <a:srgbClr val="3ECFA0"/>
                </a:solidFill>
                <a:latin typeface="Calibri"/>
              </a:rPr>
              <a:t>FALSE.</a:t>
            </a:r>
          </a:p>
          <a:p>
            <a:pPr algn="l"/>
            <a:r>
              <a:rPr sz="6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800" b="0" i="0">
                <a:solidFill>
                  <a:srgbClr val="B3B3B3"/>
                </a:solidFill>
                <a:latin typeface="Calibri"/>
              </a:rPr>
              <a:t>Andrew — Masters student. Junior accountant. 3 units running. 5–10 hrs/week.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80160" y="914400"/>
            <a:ext cx="999713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 i="0">
                <a:solidFill>
                  <a:srgbClr val="1E3C2D"/>
                </a:solidFill>
                <a:latin typeface="Calibri"/>
              </a:rPr>
              <a:t>#5</a:t>
            </a:r>
          </a:p>
          <a:p>
            <a:pPr algn="l"/>
            <a:r>
              <a:rPr sz="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3200" b="0" i="0">
                <a:solidFill>
                  <a:srgbClr val="B3B3B3"/>
                </a:solidFill>
                <a:latin typeface="Calibri"/>
              </a:rPr>
              <a:t>Now isn't the right time.</a:t>
            </a:r>
          </a:p>
          <a:p>
            <a:pPr algn="l"/>
            <a:r>
              <a:rPr sz="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4800" b="1" i="0">
                <a:solidFill>
                  <a:srgbClr val="3ECFA0"/>
                </a:solidFill>
                <a:latin typeface="Calibri"/>
              </a:rPr>
              <a:t>FALSE.</a:t>
            </a:r>
          </a:p>
          <a:p>
            <a:pPr algn="l"/>
            <a:r>
              <a:rPr sz="6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800" b="0" i="0">
                <a:solidFill>
                  <a:srgbClr val="B3B3B3"/>
                </a:solidFill>
                <a:latin typeface="Calibri"/>
              </a:rPr>
              <a:t>This is the best window in years. I'll prove it in Secret 3.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99713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  <a:latin typeface="Calibri"/>
              </a:rPr>
              <a:t>What if everything
you've been told…</a:t>
            </a:r>
          </a:p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/>
            <a:r>
              <a:rPr sz="5600" b="1" i="0">
                <a:solidFill>
                  <a:srgbClr val="3ECFA0"/>
                </a:solidFill>
                <a:latin typeface="Calibri"/>
              </a:rPr>
              <a:t>is wrong?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99713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B3B3B3"/>
                </a:solidFill>
                <a:latin typeface="Calibri"/>
              </a:rPr>
              <a:t>What if there's a completely different path?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One that </a:t>
            </a:r>
          </a:p>
          <a:p>
            <a:pPr algn="ctr"/>
            <a:r>
              <a:rPr sz="4400" b="1" i="0">
                <a:solidFill>
                  <a:srgbClr val="3ECFA0"/>
                </a:solidFill>
                <a:latin typeface="Calibri"/>
              </a:rPr>
              <a:t>doesn't require</a:t>
            </a:r>
          </a:p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 your own money.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99713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  <a:latin typeface="Calibri"/>
              </a:rPr>
              <a:t>Let me show you </a:t>
            </a:r>
          </a:p>
          <a:p>
            <a:pPr algn="ctr"/>
            <a:r>
              <a:rPr sz="5200" b="1" i="0">
                <a:solidFill>
                  <a:srgbClr val="3ECFA0"/>
                </a:solidFill>
                <a:latin typeface="Calibri"/>
              </a:rPr>
              <a:t>exactly</a:t>
            </a:r>
          </a:p>
          <a:p>
            <a:pPr algn="ctr"/>
            <a:r>
              <a:rPr sz="5200" b="1" i="0">
                <a:solidFill>
                  <a:srgbClr val="FFFFFF"/>
                </a:solidFill>
                <a:latin typeface="Calibri"/>
              </a:rPr>
              <a:t> how I found it.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99713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ECFA0"/>
                </a:solidFill>
                <a:latin typeface="Calibri"/>
              </a:rPr>
              <a:t>THE ORIGIN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/>
            <a:r>
              <a:rPr sz="4800" b="1" i="0">
                <a:solidFill>
                  <a:srgbClr val="FFFFFF"/>
                </a:solidFill>
                <a:latin typeface="Calibri"/>
              </a:rPr>
              <a:t>It started with </a:t>
            </a:r>
          </a:p>
          <a:p>
            <a:pPr algn="ctr"/>
            <a:r>
              <a:rPr sz="4800" b="1" i="0">
                <a:solidFill>
                  <a:srgbClr val="3ECFA0"/>
                </a:solidFill>
                <a:latin typeface="Calibri"/>
              </a:rPr>
              <a:t>an air mattress</a:t>
            </a:r>
          </a:p>
          <a:p>
            <a:pPr algn="ctr"/>
            <a:r>
              <a:rPr sz="4800" b="1" i="0">
                <a:solidFill>
                  <a:srgbClr val="FFFFFF"/>
                </a:solidFill>
                <a:latin typeface="Calibri"/>
              </a:rPr>
              <a:t> and a question.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80160" y="914400"/>
            <a:ext cx="999713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0" i="0">
                <a:solidFill>
                  <a:srgbClr val="B3B3B3"/>
                </a:solidFill>
                <a:latin typeface="Calibri"/>
              </a:rPr>
              <a:t>South London.</a:t>
            </a:r>
          </a:p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4400" b="0" i="0">
                <a:solidFill>
                  <a:srgbClr val="FFFFFF"/>
                </a:solidFill>
                <a:latin typeface="Calibri"/>
              </a:rPr>
              <a:t>Immigrant family.</a:t>
            </a:r>
          </a:p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4400" b="1" i="0">
                <a:solidFill>
                  <a:srgbClr val="3ECFA0"/>
                </a:solidFill>
                <a:latin typeface="Calibri"/>
              </a:rPr>
              <a:t>Nothing handed to us.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80160" y="914400"/>
            <a:ext cx="999713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0" i="0">
                <a:solidFill>
                  <a:srgbClr val="FFFFFF"/>
                </a:solidFill>
                <a:latin typeface="Calibri"/>
              </a:rPr>
              <a:t>Did everything right.</a:t>
            </a:r>
          </a:p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3200" b="0" i="0">
                <a:solidFill>
                  <a:srgbClr val="B3B3B3"/>
                </a:solidFill>
                <a:latin typeface="Calibri"/>
              </a:rPr>
              <a:t>Kept my head down. Got the grades.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99713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ECFA0"/>
                </a:solidFill>
                <a:latin typeface="Calibri"/>
              </a:rPr>
              <a:t>UNIVERSITY OF WARWICK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/>
            <a:r>
              <a:rPr sz="8000" b="1" i="0">
                <a:solidFill>
                  <a:srgbClr val="3ECFA0"/>
                </a:solidFill>
                <a:latin typeface="Calibri"/>
              </a:rPr>
              <a:t>Law.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99713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ECFA0"/>
                </a:solidFill>
                <a:latin typeface="Calibri"/>
              </a:rPr>
              <a:t>THE OFFER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/>
            <a:r>
              <a:rPr sz="5200" b="1" i="0">
                <a:solidFill>
                  <a:srgbClr val="FFFFFF"/>
                </a:solidFill>
                <a:latin typeface="Calibri"/>
              </a:rPr>
              <a:t>Magic circle law firm.</a:t>
            </a:r>
          </a:p>
          <a:p>
            <a:pPr algn="ctr"/>
            <a:r>
              <a:rPr sz="6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/>
            <a:r>
              <a:rPr sz="2800" b="0" i="0">
                <a:solidFill>
                  <a:srgbClr val="B3B3B3"/>
                </a:solidFill>
                <a:latin typeface="Calibri"/>
              </a:rPr>
              <a:t>Top 5 in the UK.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99713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 i="1">
                <a:solidFill>
                  <a:srgbClr val="FFFFFF"/>
                </a:solidFill>
                <a:latin typeface="Calibri"/>
              </a:rPr>
              <a:t>"My mum cried."</a:t>
            </a:r>
          </a:p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/>
            <a:r>
              <a:rPr sz="2400" b="0" i="0">
                <a:solidFill>
                  <a:srgbClr val="B3B3B3"/>
                </a:solidFill>
                <a:latin typeface="Calibri"/>
              </a:rPr>
              <a:t>She thought we'd finally made it.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99713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0" i="0">
                <a:solidFill>
                  <a:srgbClr val="B3B3B3"/>
                </a:solidFill>
                <a:latin typeface="Calibri"/>
              </a:rPr>
              <a:t>A bigger cage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/>
            <a:r>
              <a:rPr sz="5600" b="1" i="0">
                <a:solidFill>
                  <a:srgbClr val="3ECFA0"/>
                </a:solidFill>
                <a:latin typeface="Calibri"/>
              </a:rPr>
              <a:t>is still a cage.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99713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0" b="1" i="0">
                <a:solidFill>
                  <a:srgbClr val="3ECFA0"/>
                </a:solidFill>
                <a:latin typeface="Calibri"/>
              </a:rPr>
              <a:t>57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/>
            <a:r>
              <a:rPr sz="2200" b="0" i="0">
                <a:solidFill>
                  <a:srgbClr val="B3B3B3"/>
                </a:solidFill>
                <a:latin typeface="Calibri"/>
              </a:rPr>
              <a:t>nights on an air mattress.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80160" y="914400"/>
            <a:ext cx="999713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FFFFFF"/>
                </a:solidFill>
                <a:latin typeface="Calibri"/>
              </a:rPr>
              <a:t>Lying on that deflated mattress.</a:t>
            </a:r>
          </a:p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4000" b="0" i="0">
                <a:solidFill>
                  <a:srgbClr val="B3B3B3"/>
                </a:solidFill>
                <a:latin typeface="Calibri"/>
              </a:rPr>
              <a:t>Staring at the ceiling.</a:t>
            </a:r>
          </a:p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4000" b="1" i="0">
                <a:solidFill>
                  <a:srgbClr val="3ECFA0"/>
                </a:solidFill>
                <a:latin typeface="Calibri"/>
              </a:rPr>
              <a:t>Knowing something had to change.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99713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1">
                <a:solidFill>
                  <a:srgbClr val="FFFFFF"/>
                </a:solidFill>
                <a:latin typeface="Calibri"/>
              </a:rPr>
              <a:t>"The richest people don't work for money.
Money works for them."</a:t>
            </a:r>
          </a:p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/>
            <a:r>
              <a:rPr sz="1300" b="1" i="0">
                <a:solidFill>
                  <a:srgbClr val="3ECFA0"/>
                </a:solidFill>
                <a:latin typeface="Calibri"/>
              </a:rPr>
              <a:t>ROBERT KIYOSAKI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99713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How do you get money
to work for you…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/>
            <a:r>
              <a:rPr sz="4400" b="1" i="0">
                <a:solidFill>
                  <a:srgbClr val="3ECFA0"/>
                </a:solidFill>
                <a:latin typeface="Calibri"/>
              </a:rPr>
              <a:t>when you don't have any?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99713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 i="0">
                <a:solidFill>
                  <a:srgbClr val="B3B3B3"/>
                </a:solidFill>
                <a:latin typeface="Calibri"/>
              </a:rPr>
              <a:t>That question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/>
            <a:r>
              <a:rPr sz="5200" b="1" i="0">
                <a:solidFill>
                  <a:srgbClr val="FFFFFF"/>
                </a:solidFill>
                <a:latin typeface="Calibri"/>
              </a:rPr>
              <a:t>changed my </a:t>
            </a:r>
          </a:p>
          <a:p>
            <a:pPr algn="ctr"/>
            <a:r>
              <a:rPr sz="5200" b="1" i="0">
                <a:solidFill>
                  <a:srgbClr val="3ECFA0"/>
                </a:solidFill>
                <a:latin typeface="Calibri"/>
              </a:rPr>
              <a:t>life.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80160" y="914400"/>
            <a:ext cx="999713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B3B3B3"/>
                </a:solidFill>
                <a:latin typeface="Calibri"/>
              </a:rPr>
              <a:t>Everyone said:</a:t>
            </a:r>
          </a:p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4400" b="0" i="0">
                <a:solidFill>
                  <a:srgbClr val="FFFFFF"/>
                </a:solidFill>
                <a:latin typeface="Calibri"/>
              </a:rPr>
              <a:t>"Save up. Get a mortgage."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80160" y="914400"/>
            <a:ext cx="999713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0" i="0">
                <a:solidFill>
                  <a:srgbClr val="FFFFFF"/>
                </a:solidFill>
                <a:latin typeface="Calibri"/>
              </a:rPr>
              <a:t>I had a law degree.</a:t>
            </a:r>
          </a:p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4400" b="1" i="0">
                <a:solidFill>
                  <a:srgbClr val="3ECFA0"/>
                </a:solidFill>
                <a:latin typeface="Calibri"/>
              </a:rPr>
              <a:t>And an air mattress.</a:t>
            </a:r>
          </a:p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2800" b="0" i="0">
                <a:solidFill>
                  <a:srgbClr val="B3B3B3"/>
                </a:solidFill>
                <a:latin typeface="Calibri"/>
              </a:rPr>
              <a:t>No savings. No contacts in property. Nothing.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99713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1">
                <a:solidFill>
                  <a:srgbClr val="FFFFFF"/>
                </a:solidFill>
                <a:latin typeface="Calibri"/>
              </a:rPr>
              <a:t>Then I asked a different question.</a:t>
            </a:r>
          </a:p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/>
            <a:r>
              <a:rPr sz="4800" b="1" i="0">
                <a:solidFill>
                  <a:srgbClr val="FFFFFF"/>
                </a:solidFill>
                <a:latin typeface="Calibri"/>
              </a:rPr>
              <a:t>What if my </a:t>
            </a:r>
          </a:p>
          <a:p>
            <a:pPr algn="ctr"/>
            <a:r>
              <a:rPr sz="4800" b="1" i="0">
                <a:solidFill>
                  <a:srgbClr val="3ECFA0"/>
                </a:solidFill>
                <a:latin typeface="Calibri"/>
              </a:rPr>
              <a:t>credibility</a:t>
            </a:r>
          </a:p>
          <a:p>
            <a:pPr algn="ctr"/>
            <a:r>
              <a:rPr sz="4800" b="1" i="0">
                <a:solidFill>
                  <a:srgbClr val="FFFFFF"/>
                </a:solidFill>
                <a:latin typeface="Calibri"/>
              </a:rPr>
              <a:t> IS the capital?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99713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ECFA0"/>
                </a:solidFill>
                <a:latin typeface="Calibri"/>
              </a:rPr>
              <a:t>THE ANSWER BECAME</a:t>
            </a:r>
          </a:p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/>
            <a:r>
              <a:rPr sz="7200" b="1" i="0">
                <a:solidFill>
                  <a:srgbClr val="3ECFA0"/>
                </a:solidFill>
                <a:latin typeface="Calibri"/>
              </a:rPr>
              <a:t>C  →  C  →  C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/>
            <a:r>
              <a:rPr sz="2400" b="0" i="0">
                <a:solidFill>
                  <a:srgbClr val="B3B3B3"/>
                </a:solidFill>
                <a:latin typeface="Calibri"/>
              </a:rPr>
              <a:t>Credibility  →  Capital  →  Cash Flow</a:t>
            </a:r>
          </a:p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/>
            <a:r>
              <a:rPr sz="3600" b="1" i="0">
                <a:solidFill>
                  <a:srgbClr val="3ECFA0"/>
                </a:solidFill>
                <a:latin typeface="Calibri"/>
              </a:rPr>
              <a:t>The 3C System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99713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ECFA0"/>
                </a:solidFill>
                <a:latin typeface="Calibri"/>
              </a:rPr>
              <a:t>THE RESULT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First property — profitable </a:t>
            </a:r>
          </a:p>
          <a:p>
            <a:pPr algn="ctr"/>
            <a:r>
              <a:rPr sz="4400" b="1" i="0">
                <a:solidFill>
                  <a:srgbClr val="3ECFA0"/>
                </a:solidFill>
                <a:latin typeface="Calibri"/>
              </a:rPr>
              <a:t>month one.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99713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ECFA0"/>
                </a:solidFill>
                <a:latin typeface="Calibri"/>
              </a:rPr>
              <a:t>TODAY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/>
            <a:r>
              <a:rPr sz="5600" b="1" i="0">
                <a:solidFill>
                  <a:srgbClr val="3ECFA0"/>
                </a:solidFill>
                <a:latin typeface="Calibri"/>
              </a:rPr>
              <a:t>14 units.</a:t>
            </a:r>
          </a:p>
          <a:p>
            <a:pPr algn="ctr"/>
            <a:r>
              <a:rPr sz="6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£50k/month.  £16k profit.</a:t>
            </a:r>
          </a:p>
          <a:p>
            <a:pPr algn="ctr"/>
            <a:r>
              <a:rPr sz="6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/>
            <a:r>
              <a:rPr sz="3600" b="1" i="0">
                <a:solidFill>
                  <a:srgbClr val="3ECFA0"/>
                </a:solidFill>
                <a:latin typeface="Calibri"/>
              </a:rPr>
              <a:t>Zero own money.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99713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B3B3B3"/>
                </a:solidFill>
                <a:latin typeface="Calibri"/>
              </a:rPr>
              <a:t>This isn't just my story.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/>
            <a:r>
              <a:rPr sz="5200" b="1" i="0">
                <a:solidFill>
                  <a:srgbClr val="FFFFFF"/>
                </a:solidFill>
                <a:latin typeface="Calibri"/>
              </a:rPr>
              <a:t>This is a </a:t>
            </a:r>
          </a:p>
          <a:p>
            <a:pPr algn="ctr"/>
            <a:r>
              <a:rPr sz="5200" b="1" i="0">
                <a:solidFill>
                  <a:srgbClr val="3ECFA0"/>
                </a:solidFill>
                <a:latin typeface="Calibri"/>
              </a:rPr>
              <a:t>system.</a:t>
            </a:r>
          </a:p>
          <a:p>
            <a:pPr algn="ctr"/>
            <a:r>
              <a:rPr sz="6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/>
            <a:r>
              <a:rPr sz="2800" b="0" i="0">
                <a:solidFill>
                  <a:srgbClr val="B3B3B3"/>
                </a:solidFill>
                <a:latin typeface="Calibri"/>
              </a:rPr>
              <a:t>A system anyone can run.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99713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ECFA0"/>
                </a:solidFill>
                <a:latin typeface="Calibri"/>
              </a:rPr>
              <a:t>TONIGHT I'M SHARING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/>
            <a:r>
              <a:rPr sz="4800" b="1" i="0">
                <a:solidFill>
                  <a:srgbClr val="FFFFFF"/>
                </a:solidFill>
                <a:latin typeface="Calibri"/>
              </a:rPr>
              <a:t>Three </a:t>
            </a:r>
          </a:p>
          <a:p>
            <a:pPr algn="ctr"/>
            <a:r>
              <a:rPr sz="4800" b="1" i="0">
                <a:solidFill>
                  <a:srgbClr val="3ECFA0"/>
                </a:solidFill>
                <a:latin typeface="Calibri"/>
              </a:rPr>
              <a:t>secrets</a:t>
            </a:r>
          </a:p>
          <a:p>
            <a:pPr algn="ctr"/>
            <a:r>
              <a:rPr sz="4800" b="1" i="0">
                <a:solidFill>
                  <a:srgbClr val="FFFFFF"/>
                </a:solidFill>
                <a:latin typeface="Calibri"/>
              </a:rPr>
              <a:t> most people will never know.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/>
            <a:r>
              <a:rPr sz="2400" b="0" i="0">
                <a:solidFill>
                  <a:srgbClr val="B3B3B3"/>
                </a:solidFill>
                <a:latin typeface="Calibri"/>
              </a:rPr>
              <a:t>Let's start with Secret 1.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99713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ECFA0"/>
                </a:solidFill>
                <a:latin typeface="Calibri"/>
              </a:rPr>
              <a:t>THE FIRST SECRET</a:t>
            </a:r>
          </a:p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/>
            <a:r>
              <a:rPr sz="8000" b="1" i="0">
                <a:solidFill>
                  <a:srgbClr val="3ECFA0"/>
                </a:solidFill>
                <a:latin typeface="Calibri"/>
              </a:rPr>
              <a:t>SECRET 1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/>
            <a:r>
              <a:rPr sz="2000" b="0" i="0">
                <a:solidFill>
                  <a:srgbClr val="B3B3B3"/>
                </a:solidFill>
                <a:latin typeface="Calibri"/>
              </a:rPr>
              <a:t>Your Credibility IS Your Capital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99713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  <a:latin typeface="Calibri"/>
              </a:rPr>
              <a:t>Your </a:t>
            </a:r>
          </a:p>
          <a:p>
            <a:pPr algn="ctr"/>
            <a:r>
              <a:rPr sz="5200" b="1" i="0">
                <a:solidFill>
                  <a:srgbClr val="3ECFA0"/>
                </a:solidFill>
                <a:latin typeface="Calibri"/>
              </a:rPr>
              <a:t>Credibility</a:t>
            </a:r>
          </a:p>
          <a:p>
            <a:pPr algn="ctr"/>
            <a:r>
              <a:rPr sz="5200" b="1" i="0">
                <a:solidFill>
                  <a:srgbClr val="FFFFFF"/>
                </a:solidFill>
                <a:latin typeface="Calibri"/>
              </a:rPr>
              <a:t> IS Your Capital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80160" y="914400"/>
            <a:ext cx="999713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ECFA0"/>
                </a:solidFill>
                <a:latin typeface="Calibri"/>
              </a:rPr>
              <a:t>HOW THE WEALTHY HAVE ALWAYS DONE IT</a:t>
            </a:r>
          </a:p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5200" b="1" i="0">
                <a:solidFill>
                  <a:srgbClr val="FFFFFF"/>
                </a:solidFill>
                <a:latin typeface="Calibri"/>
              </a:rPr>
              <a:t>Private capital raising.</a:t>
            </a:r>
          </a:p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2400" b="0" i="0">
                <a:solidFill>
                  <a:srgbClr val="B3B3B3"/>
                </a:solidFill>
                <a:latin typeface="Calibri"/>
              </a:rPr>
              <a:t>The mechanism is not new.
Access to it, for people like us — that's new.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99713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B3B3B3"/>
                </a:solidFill>
                <a:latin typeface="Calibri"/>
              </a:rPr>
              <a:t>Credibility is not about being rich.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It's about </a:t>
            </a:r>
          </a:p>
          <a:p>
            <a:pPr algn="ctr"/>
            <a:r>
              <a:rPr sz="4400" b="1" i="0">
                <a:solidFill>
                  <a:srgbClr val="3ECFA0"/>
                </a:solidFill>
                <a:latin typeface="Calibri"/>
              </a:rPr>
              <a:t>packaging</a:t>
            </a:r>
          </a:p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 what you already have.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80160" y="914400"/>
            <a:ext cx="999713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ECFA0"/>
                </a:solidFill>
                <a:latin typeface="Calibri"/>
              </a:rPr>
              <a:t>ASK YOURSELF</a:t>
            </a:r>
          </a:p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3600" b="0" i="0">
                <a:solidFill>
                  <a:srgbClr val="FFFFFF"/>
                </a:solidFill>
                <a:latin typeface="Calibri"/>
              </a:rPr>
              <a:t>Do you have a degree?</a:t>
            </a:r>
          </a:p>
          <a:p>
            <a:pPr algn="l"/>
            <a:r>
              <a:rPr sz="3600" b="0" i="0">
                <a:solidFill>
                  <a:srgbClr val="FFFFFF"/>
                </a:solidFill>
                <a:latin typeface="Calibri"/>
              </a:rPr>
              <a:t>A professional job?</a:t>
            </a:r>
          </a:p>
          <a:p>
            <a:pPr algn="l"/>
            <a:r>
              <a:rPr sz="3600" b="0" i="0">
                <a:solidFill>
                  <a:srgbClr val="FFFFFF"/>
                </a:solidFill>
                <a:latin typeface="Calibri"/>
              </a:rPr>
              <a:t>A track record of any kind?</a:t>
            </a:r>
          </a:p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4000" b="1" i="0">
                <a:solidFill>
                  <a:srgbClr val="3ECFA0"/>
                </a:solidFill>
                <a:latin typeface="Calibri"/>
              </a:rPr>
              <a:t>You already have credibility.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99713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 i="0">
                <a:solidFill>
                  <a:srgbClr val="B3B3B3"/>
                </a:solidFill>
                <a:latin typeface="Calibri"/>
              </a:rPr>
              <a:t>You already have it.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/>
            <a:r>
              <a:rPr sz="4800" b="1" i="0">
                <a:solidFill>
                  <a:srgbClr val="FFFFFF"/>
                </a:solidFill>
                <a:latin typeface="Calibri"/>
              </a:rPr>
              <a:t>You just haven't </a:t>
            </a:r>
          </a:p>
          <a:p>
            <a:pPr algn="ctr"/>
            <a:r>
              <a:rPr sz="4800" b="1" i="0">
                <a:solidFill>
                  <a:srgbClr val="3ECFA0"/>
                </a:solidFill>
                <a:latin typeface="Calibri"/>
              </a:rPr>
              <a:t>packaged it.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80160" y="914400"/>
            <a:ext cx="999713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ECFA0"/>
                </a:solidFill>
                <a:latin typeface="Calibri"/>
              </a:rPr>
              <a:t>THE TOOL</a:t>
            </a:r>
          </a:p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4400" b="1" i="0">
                <a:solidFill>
                  <a:srgbClr val="3ECFA0"/>
                </a:solidFill>
                <a:latin typeface="Calibri"/>
              </a:rPr>
              <a:t>The Credibility Pack</a:t>
            </a:r>
          </a:p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2800" b="0" i="0">
                <a:solidFill>
                  <a:srgbClr val="FFFFFF"/>
                </a:solidFill>
                <a:latin typeface="Calibri"/>
              </a:rPr>
              <a:t>→  Who you are</a:t>
            </a:r>
          </a:p>
          <a:p>
            <a:pPr algn="l"/>
            <a:r>
              <a:rPr sz="2800" b="0" i="0">
                <a:solidFill>
                  <a:srgbClr val="FFFFFF"/>
                </a:solidFill>
                <a:latin typeface="Calibri"/>
              </a:rPr>
              <a:t>→  The strategy</a:t>
            </a:r>
          </a:p>
          <a:p>
            <a:pPr algn="l"/>
            <a:r>
              <a:rPr sz="2800" b="0" i="0">
                <a:solidFill>
                  <a:srgbClr val="FFFFFF"/>
                </a:solidFill>
                <a:latin typeface="Calibri"/>
              </a:rPr>
              <a:t>→  The numbers</a:t>
            </a:r>
          </a:p>
          <a:p>
            <a:pPr algn="l"/>
            <a:r>
              <a:rPr sz="2800" b="0" i="0">
                <a:solidFill>
                  <a:srgbClr val="FFFFFF"/>
                </a:solidFill>
                <a:latin typeface="Calibri"/>
              </a:rPr>
              <a:t>→  Legal structure</a:t>
            </a:r>
          </a:p>
          <a:p>
            <a:pPr algn="l"/>
            <a:r>
              <a:rPr sz="2800" b="0" i="0">
                <a:solidFill>
                  <a:srgbClr val="FFFFFF"/>
                </a:solidFill>
                <a:latin typeface="Calibri"/>
              </a:rPr>
              <a:t>→  Risk mitigation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99713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B3B3B3"/>
                </a:solidFill>
                <a:latin typeface="Calibri"/>
              </a:rPr>
              <a:t>Your network already trusts you.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The Credibility Pack gives them
the </a:t>
            </a:r>
          </a:p>
          <a:p>
            <a:pPr algn="ctr"/>
            <a:r>
              <a:rPr sz="4000" b="1" i="0">
                <a:solidFill>
                  <a:srgbClr val="3ECFA0"/>
                </a:solidFill>
                <a:latin typeface="Calibri"/>
              </a:rPr>
              <a:t>rational justification.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99713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ECFA0"/>
                </a:solidFill>
                <a:latin typeface="Calibri"/>
              </a:rPr>
              <a:t>CASE STUDY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/>
            <a:r>
              <a:rPr sz="6400" b="1" i="0">
                <a:solidFill>
                  <a:srgbClr val="3ECFA0"/>
                </a:solidFill>
                <a:latin typeface="Calibri"/>
              </a:rPr>
              <a:t>Ihab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/>
            <a:r>
              <a:rPr sz="2800" b="0" i="0">
                <a:solidFill>
                  <a:srgbClr val="FFFFFF"/>
                </a:solidFill>
                <a:latin typeface="Calibri"/>
              </a:rPr>
              <a:t>Zero property experience.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80160" y="914400"/>
            <a:ext cx="999713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ECFA0"/>
                </a:solidFill>
                <a:latin typeface="Calibri"/>
              </a:rPr>
              <a:t>IHAB — WEEK 1–2</a:t>
            </a:r>
          </a:p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3600" b="0" i="0">
                <a:solidFill>
                  <a:srgbClr val="FFFFFF"/>
                </a:solidFill>
                <a:latin typeface="Calibri"/>
              </a:rPr>
              <a:t>Built his Credibility Pack.</a:t>
            </a:r>
          </a:p>
          <a:p>
            <a:pPr algn="l"/>
            <a:r>
              <a:rPr sz="6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2200" b="0" i="0">
                <a:solidFill>
                  <a:srgbClr val="B3B3B3"/>
                </a:solidFill>
                <a:latin typeface="Calibri"/>
              </a:rPr>
              <a:t>Document. Strategy. Numbers. Legal framework.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80160" y="914400"/>
            <a:ext cx="999713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ECFA0"/>
                </a:solidFill>
                <a:latin typeface="Calibri"/>
              </a:rPr>
              <a:t>IHAB — WEEK 3</a:t>
            </a:r>
          </a:p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Approached </a:t>
            </a:r>
          </a:p>
          <a:p>
            <a:pPr algn="l"/>
            <a:r>
              <a:rPr sz="3600" b="1" i="0">
                <a:solidFill>
                  <a:srgbClr val="3ECFA0"/>
                </a:solidFill>
                <a:latin typeface="Calibri"/>
              </a:rPr>
              <a:t>3 people</a:t>
            </a:r>
          </a:p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 in his network.</a:t>
            </a:r>
          </a:p>
          <a:p>
            <a:pPr algn="l"/>
            <a:r>
              <a:rPr sz="6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2200" b="0" i="0">
                <a:solidFill>
                  <a:srgbClr val="B3B3B3"/>
                </a:solidFill>
                <a:latin typeface="Calibri"/>
              </a:rPr>
              <a:t>Not cold contacts. People who already knew him.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80160" y="914400"/>
            <a:ext cx="999713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ECFA0"/>
                </a:solidFill>
                <a:latin typeface="Calibri"/>
              </a:rPr>
              <a:t>IHAB — WEEK 5</a:t>
            </a:r>
          </a:p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4400" b="1" i="0">
                <a:solidFill>
                  <a:srgbClr val="3ECFA0"/>
                </a:solidFill>
                <a:latin typeface="Calibri"/>
              </a:rPr>
              <a:t>£25,000 committed.</a:t>
            </a:r>
          </a:p>
          <a:p>
            <a:pPr algn="l"/>
            <a:r>
              <a:rPr sz="6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2200" b="0" i="0">
                <a:solidFill>
                  <a:srgbClr val="B3B3B3"/>
                </a:solidFill>
                <a:latin typeface="Calibri"/>
              </a:rPr>
              <a:t>From people who trusted him. Not strangers.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80160" y="914400"/>
            <a:ext cx="999713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ECFA0"/>
                </a:solidFill>
                <a:latin typeface="Calibri"/>
              </a:rPr>
              <a:t>IHAB — DAY 45</a:t>
            </a:r>
          </a:p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2 Airbnbs </a:t>
            </a:r>
          </a:p>
          <a:p>
            <a:pPr algn="l"/>
            <a:r>
              <a:rPr sz="3600" b="1" i="0">
                <a:solidFill>
                  <a:srgbClr val="3ECFA0"/>
                </a:solidFill>
                <a:latin typeface="Calibri"/>
              </a:rPr>
              <a:t>live.</a:t>
            </a:r>
          </a:p>
          <a:p>
            <a:pPr algn="l"/>
            <a:r>
              <a:rPr sz="6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3600" b="1" i="0">
                <a:solidFill>
                  <a:srgbClr val="3ECFA0"/>
                </a:solidFill>
                <a:latin typeface="Calibri"/>
              </a:rPr>
              <a:t>Cash-flow positive.</a:t>
            </a:r>
          </a:p>
          <a:p>
            <a:pPr algn="l"/>
            <a:r>
              <a:rPr sz="6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2200" b="0" i="0">
                <a:solidFill>
                  <a:srgbClr val="B3B3B3"/>
                </a:solidFill>
                <a:latin typeface="Calibri"/>
              </a:rPr>
              <a:t>Zero property experience. Six weeks prior.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99713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ECFA0"/>
                </a:solidFill>
                <a:latin typeface="Calibri"/>
              </a:rPr>
              <a:t>TWO WAYS TO STRUCTURE INVESTOR DEALS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/>
            <a:r>
              <a:rPr sz="5200" b="1" i="0">
                <a:solidFill>
                  <a:srgbClr val="3ECFA0"/>
                </a:solidFill>
                <a:latin typeface="Calibri"/>
              </a:rPr>
              <a:t>Equity vs Debt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80160" y="914400"/>
            <a:ext cx="999713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ECFA0"/>
                </a:solidFill>
                <a:latin typeface="Calibri"/>
              </a:rPr>
              <a:t>MODEL 1 — EQUITY</a:t>
            </a:r>
          </a:p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4400" b="1" i="0">
                <a:solidFill>
                  <a:srgbClr val="3ECFA0"/>
                </a:solidFill>
                <a:latin typeface="Calibri"/>
              </a:rPr>
              <a:t>Investor funds 100%.</a:t>
            </a:r>
          </a:p>
          <a:p>
            <a:pPr algn="l"/>
            <a:r>
              <a:rPr sz="6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4400" b="0" i="0">
                <a:solidFill>
                  <a:srgbClr val="FFFFFF"/>
                </a:solidFill>
                <a:latin typeface="Calibri"/>
              </a:rPr>
              <a:t>You split profits.</a:t>
            </a:r>
          </a:p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2200" b="0" i="0">
                <a:solidFill>
                  <a:srgbClr val="B3B3B3"/>
                </a:solidFill>
                <a:latin typeface="Calibri"/>
              </a:rPr>
              <a:t>You bring the system.
They bring the capital. Both win.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80160" y="914400"/>
            <a:ext cx="999713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ECFA0"/>
                </a:solidFill>
                <a:latin typeface="Calibri"/>
              </a:rPr>
              <a:t>MODEL 2 — DEBT</a:t>
            </a:r>
          </a:p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4400" b="1" i="0">
                <a:solidFill>
                  <a:srgbClr val="3ECFA0"/>
                </a:solidFill>
                <a:latin typeface="Calibri"/>
              </a:rPr>
              <a:t>Loan at agreed interest.</a:t>
            </a:r>
          </a:p>
          <a:p>
            <a:pPr algn="l"/>
            <a:r>
              <a:rPr sz="6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4400" b="0" i="0">
                <a:solidFill>
                  <a:srgbClr val="FFFFFF"/>
                </a:solidFill>
                <a:latin typeface="Calibri"/>
              </a:rPr>
              <a:t>Pay back with returns.</a:t>
            </a:r>
          </a:p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2200" b="0" i="0">
                <a:solidFill>
                  <a:srgbClr val="B3B3B3"/>
                </a:solidFill>
                <a:latin typeface="Calibri"/>
              </a:rPr>
              <a:t>Clean. Simple. Legally structured.
Investor gets a fixed return. You keep the rest.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99713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B3B3B3"/>
                </a:solidFill>
                <a:latin typeface="Calibri"/>
              </a:rPr>
              <a:t>Both models are</a:t>
            </a:r>
          </a:p>
          <a:p>
            <a:pPr algn="ctr"/>
            <a:r>
              <a:rPr sz="6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/>
            <a:r>
              <a:rPr sz="4800" b="1" i="0">
                <a:solidFill>
                  <a:srgbClr val="FFFFFF"/>
                </a:solidFill>
                <a:latin typeface="Calibri"/>
              </a:rPr>
              <a:t>legally </a:t>
            </a:r>
          </a:p>
          <a:p>
            <a:pPr algn="ctr"/>
            <a:r>
              <a:rPr sz="4800" b="1" i="0">
                <a:solidFill>
                  <a:srgbClr val="3ECFA0"/>
                </a:solidFill>
                <a:latin typeface="Calibri"/>
              </a:rPr>
              <a:t>structured.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/>
            <a:r>
              <a:rPr sz="2200" b="0" i="0">
                <a:solidFill>
                  <a:srgbClr val="B3B3B3"/>
                </a:solidFill>
                <a:latin typeface="Calibri"/>
              </a:rPr>
              <a:t>JV agreements. Loan agreements. Proper documentation.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99713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ECFA0"/>
                </a:solidFill>
                <a:latin typeface="Calibri"/>
              </a:rPr>
              <a:t>SECRET 1 RECAP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/>
            <a:r>
              <a:rPr sz="4400" b="0" i="0">
                <a:solidFill>
                  <a:srgbClr val="FFFFFF"/>
                </a:solidFill>
                <a:latin typeface="Calibri"/>
              </a:rPr>
              <a:t>Package your credibility.</a:t>
            </a:r>
          </a:p>
          <a:p>
            <a:pPr algn="ctr"/>
            <a:r>
              <a:rPr sz="6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/>
            <a:r>
              <a:rPr sz="4000" b="1" i="0">
                <a:solidFill>
                  <a:srgbClr val="3ECFA0"/>
                </a:solidFill>
                <a:latin typeface="Calibri"/>
              </a:rPr>
              <a:t>Approach your network.</a:t>
            </a:r>
          </a:p>
          <a:p>
            <a:pPr algn="ctr"/>
            <a:r>
              <a:rPr sz="6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/>
            <a:r>
              <a:rPr sz="4000" b="1" i="0">
                <a:solidFill>
                  <a:srgbClr val="3ECFA0"/>
                </a:solidFill>
                <a:latin typeface="Calibri"/>
              </a:rPr>
              <a:t>Raise the capital.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99713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B3B3B3"/>
                </a:solidFill>
                <a:latin typeface="Calibri"/>
              </a:rPr>
              <a:t>Now you have the capital.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Secret 2 tells you </a:t>
            </a:r>
          </a:p>
          <a:p>
            <a:pPr algn="ctr"/>
            <a:r>
              <a:rPr sz="4400" b="1" i="0">
                <a:solidFill>
                  <a:srgbClr val="3ECFA0"/>
                </a:solidFill>
                <a:latin typeface="Calibri"/>
              </a:rPr>
              <a:t>exactly what to do with it.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99713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ECFA0"/>
                </a:solidFill>
                <a:latin typeface="Calibri"/>
              </a:rPr>
              <a:t>THE SECOND SECRET</a:t>
            </a:r>
          </a:p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/>
            <a:r>
              <a:rPr sz="8000" b="1" i="0">
                <a:solidFill>
                  <a:srgbClr val="3ECFA0"/>
                </a:solidFill>
                <a:latin typeface="Calibri"/>
              </a:rPr>
              <a:t>SECRET 2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/>
            <a:r>
              <a:rPr sz="2000" b="0" i="0">
                <a:solidFill>
                  <a:srgbClr val="B3B3B3"/>
                </a:solidFill>
                <a:latin typeface="Calibri"/>
              </a:rPr>
              <a:t>You Don't Need Experience. You Need a System.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99713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 i="0">
                <a:solidFill>
                  <a:srgbClr val="B3B3B3"/>
                </a:solidFill>
                <a:latin typeface="Calibri"/>
              </a:rPr>
              <a:t>You don't need experience.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/>
            <a:r>
              <a:rPr sz="5200" b="1" i="0">
                <a:solidFill>
                  <a:srgbClr val="FFFFFF"/>
                </a:solidFill>
                <a:latin typeface="Calibri"/>
              </a:rPr>
              <a:t>You need a </a:t>
            </a:r>
          </a:p>
          <a:p>
            <a:pPr algn="ctr"/>
            <a:r>
              <a:rPr sz="5200" b="1" i="0">
                <a:solidFill>
                  <a:srgbClr val="3ECFA0"/>
                </a:solidFill>
                <a:latin typeface="Calibri"/>
              </a:rPr>
              <a:t>system.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99713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ECFA0"/>
                </a:solidFill>
                <a:latin typeface="Calibri"/>
              </a:rPr>
              <a:t>INTRODUCING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/>
            <a:r>
              <a:rPr sz="4400" b="1" i="0">
                <a:solidFill>
                  <a:srgbClr val="3ECFA0"/>
                </a:solidFill>
                <a:latin typeface="Calibri"/>
              </a:rPr>
              <a:t>The Capital Deployment Framework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/>
            <a:r>
              <a:rPr sz="2400" b="0" i="0">
                <a:solidFill>
                  <a:srgbClr val="B3B3B3"/>
                </a:solidFill>
                <a:latin typeface="Calibri"/>
              </a:rPr>
              <a:t>Five steps. Rinse and repeat.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80160" y="914400"/>
            <a:ext cx="999713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ECFA0"/>
                </a:solidFill>
                <a:latin typeface="Calibri"/>
              </a:rPr>
              <a:t>STEP 1</a:t>
            </a:r>
          </a:p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4800" b="0" i="0">
                <a:solidFill>
                  <a:srgbClr val="FFFFFF"/>
                </a:solidFill>
                <a:latin typeface="Calibri"/>
              </a:rPr>
              <a:t>Deal Sourcing Team</a:t>
            </a:r>
          </a:p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2400" b="0" i="0">
                <a:solidFill>
                  <a:srgbClr val="B3B3B3"/>
                </a:solidFill>
                <a:latin typeface="Calibri"/>
              </a:rPr>
              <a:t>They find the property.
You don't spend weekends on Rightmove.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80160" y="914400"/>
            <a:ext cx="999713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ECFA0"/>
                </a:solidFill>
                <a:latin typeface="Calibri"/>
              </a:rPr>
              <a:t>STEP 2</a:t>
            </a:r>
          </a:p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4800" b="0" i="0">
                <a:solidFill>
                  <a:srgbClr val="FFFFFF"/>
                </a:solidFill>
                <a:latin typeface="Calibri"/>
              </a:rPr>
              <a:t>Numbers Analysis</a:t>
            </a:r>
          </a:p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2400" b="0" i="0">
                <a:solidFill>
                  <a:srgbClr val="B3B3B3"/>
                </a:solidFill>
                <a:latin typeface="Calibri"/>
              </a:rPr>
              <a:t>If it doesn't work on paper, we don't touch it.
Simple rule. Protects everyone.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80160" y="914400"/>
            <a:ext cx="999713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ECFA0"/>
                </a:solidFill>
                <a:latin typeface="Calibri"/>
              </a:rPr>
              <a:t>STEP 3</a:t>
            </a:r>
          </a:p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4800" b="0" i="0">
                <a:solidFill>
                  <a:srgbClr val="FFFFFF"/>
                </a:solidFill>
                <a:latin typeface="Calibri"/>
              </a:rPr>
              <a:t>Property Setup</a:t>
            </a:r>
          </a:p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2400" b="0" i="0">
                <a:solidFill>
                  <a:srgbClr val="B3B3B3"/>
                </a:solidFill>
                <a:latin typeface="Calibri"/>
              </a:rPr>
              <a:t>Furnishing. Photography. Optimised listing.
Priced to win from day one.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80160" y="914400"/>
            <a:ext cx="999713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ECFA0"/>
                </a:solidFill>
                <a:latin typeface="Calibri"/>
              </a:rPr>
              <a:t>STEP 4</a:t>
            </a:r>
          </a:p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4800" b="0" i="0">
                <a:solidFill>
                  <a:srgbClr val="FFFFFF"/>
                </a:solidFill>
                <a:latin typeface="Calibri"/>
              </a:rPr>
              <a:t>Operations</a:t>
            </a:r>
          </a:p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2400" b="0" i="0">
                <a:solidFill>
                  <a:srgbClr val="B3B3B3"/>
                </a:solidFill>
                <a:latin typeface="Calibri"/>
              </a:rPr>
              <a:t>Cleaning team. Maintenance. Automated guest messaging.
You're not the cleaner.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80160" y="914400"/>
            <a:ext cx="999713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ECFA0"/>
                </a:solidFill>
                <a:latin typeface="Calibri"/>
              </a:rPr>
              <a:t>STEP 5</a:t>
            </a:r>
          </a:p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4800" b="0" i="0">
                <a:solidFill>
                  <a:srgbClr val="FFFFFF"/>
                </a:solidFill>
                <a:latin typeface="Calibri"/>
              </a:rPr>
              <a:t>Optimisation</a:t>
            </a:r>
          </a:p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2400" b="0" i="0">
                <a:solidFill>
                  <a:srgbClr val="B3B3B3"/>
                </a:solidFill>
                <a:latin typeface="Calibri"/>
              </a:rPr>
              <a:t>Dynamic pricing. Review strategy. Corporate contracts.
Revenue grows over time.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99713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B3B3B3"/>
                </a:solidFill>
                <a:latin typeface="Calibri"/>
              </a:rPr>
              <a:t>You provide the capital.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/>
            <a:r>
              <a:rPr sz="5200" b="1" i="0">
                <a:solidFill>
                  <a:srgbClr val="FFFFFF"/>
                </a:solidFill>
                <a:latin typeface="Calibri"/>
              </a:rPr>
              <a:t>The </a:t>
            </a:r>
          </a:p>
          <a:p>
            <a:pPr algn="ctr"/>
            <a:r>
              <a:rPr sz="5200" b="1" i="0">
                <a:solidFill>
                  <a:srgbClr val="3ECFA0"/>
                </a:solidFill>
                <a:latin typeface="Calibri"/>
              </a:rPr>
              <a:t>system</a:t>
            </a:r>
          </a:p>
          <a:p>
            <a:pPr algn="ctr"/>
            <a:r>
              <a:rPr sz="5200" b="1" i="0">
                <a:solidFill>
                  <a:srgbClr val="FFFFFF"/>
                </a:solidFill>
                <a:latin typeface="Calibri"/>
              </a:rPr>
              <a:t> does the rest.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99713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ECFA0"/>
                </a:solidFill>
                <a:latin typeface="Calibri"/>
              </a:rPr>
              <a:t>A FRAMEWORK WITHIN THE FRAMEWORK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/>
            <a:r>
              <a:rPr sz="4400" b="1" i="0">
                <a:solidFill>
                  <a:srgbClr val="3ECFA0"/>
                </a:solidFill>
                <a:latin typeface="Calibri"/>
              </a:rPr>
              <a:t>The Warm Outreach Framework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/>
            <a:r>
              <a:rPr sz="2400" b="0" i="0">
                <a:solidFill>
                  <a:srgbClr val="B3B3B3"/>
                </a:solidFill>
                <a:latin typeface="Calibri"/>
              </a:rPr>
              <a:t>The exact words to say when
approaching investors in your network.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99713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1">
                <a:solidFill>
                  <a:srgbClr val="FFFFFF"/>
                </a:solidFill>
                <a:latin typeface="Calibri"/>
              </a:rPr>
              <a:t>"I'm building an Airbnb portfolio
and looking for investment partners."</a:t>
            </a:r>
          </a:p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/>
            <a:r>
              <a:rPr sz="2800" b="0" i="1">
                <a:solidFill>
                  <a:srgbClr val="FFFFFF"/>
                </a:solidFill>
                <a:latin typeface="Calibri"/>
              </a:rPr>
              <a:t>"The investor puts in capital. I do all the work.
We split profits."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99713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ECFA0"/>
                </a:solidFill>
                <a:latin typeface="Calibri"/>
              </a:rPr>
              <a:t>CASE STUDY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/>
            <a:r>
              <a:rPr sz="6400" b="1" i="0">
                <a:solidFill>
                  <a:srgbClr val="3ECFA0"/>
                </a:solidFill>
                <a:latin typeface="Calibri"/>
              </a:rPr>
              <a:t>Andrew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/>
            <a:r>
              <a:rPr sz="2800" b="0" i="0">
                <a:solidFill>
                  <a:srgbClr val="FFFFFF"/>
                </a:solidFill>
                <a:latin typeface="Calibri"/>
              </a:rPr>
              <a:t>Masters student. Junior accountant. No savings.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80160" y="914400"/>
            <a:ext cx="999713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ECFA0"/>
                </a:solidFill>
                <a:latin typeface="Calibri"/>
              </a:rPr>
              <a:t>ANDREW — MONTH 1</a:t>
            </a:r>
          </a:p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Raised </a:t>
            </a:r>
          </a:p>
          <a:p>
            <a:pPr algn="l"/>
            <a:r>
              <a:rPr sz="4000" b="1" i="0">
                <a:solidFill>
                  <a:srgbClr val="3ECFA0"/>
                </a:solidFill>
                <a:latin typeface="Calibri"/>
              </a:rPr>
              <a:t>£13,000.</a:t>
            </a:r>
          </a:p>
          <a:p>
            <a:pPr algn="l"/>
            <a:r>
              <a:rPr sz="6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2200" b="0" i="0">
                <a:solidFill>
                  <a:srgbClr val="B3B3B3"/>
                </a:solidFill>
                <a:latin typeface="Calibri"/>
              </a:rPr>
              <a:t>Friends and former colleagues.
Warm network. Credibility Pack.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80160" y="914400"/>
            <a:ext cx="999713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ECFA0"/>
                </a:solidFill>
                <a:latin typeface="Calibri"/>
              </a:rPr>
              <a:t>ANDREW — MONTH 3</a:t>
            </a:r>
          </a:p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4000" b="1" i="0">
                <a:solidFill>
                  <a:srgbClr val="3ECFA0"/>
                </a:solidFill>
                <a:latin typeface="Calibri"/>
              </a:rPr>
              <a:t>3 units live.</a:t>
            </a:r>
          </a:p>
          <a:p>
            <a:pPr algn="l"/>
            <a:r>
              <a:rPr sz="6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3600" b="0" i="0">
                <a:solidFill>
                  <a:srgbClr val="FFFFFF"/>
                </a:solidFill>
                <a:latin typeface="Calibri"/>
              </a:rPr>
              <a:t>Cash flowing.</a:t>
            </a:r>
          </a:p>
          <a:p>
            <a:pPr algn="l"/>
            <a:r>
              <a:rPr sz="6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2200" b="0" i="0">
                <a:solidFill>
                  <a:srgbClr val="B3B3B3"/>
                </a:solidFill>
                <a:latin typeface="Calibri"/>
              </a:rPr>
              <a:t>Still completing his Masters.
Still working as an accountant.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99713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0" b="1" i="0">
                <a:solidFill>
                  <a:srgbClr val="3ECFA0"/>
                </a:solidFill>
                <a:latin typeface="Calibri"/>
              </a:rPr>
              <a:t>5–10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/>
            <a:r>
              <a:rPr sz="2200" b="0" i="0">
                <a:solidFill>
                  <a:srgbClr val="B3B3B3"/>
                </a:solidFill>
                <a:latin typeface="Calibri"/>
              </a:rPr>
              <a:t>hours per week. That's it.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99713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B3B3B3"/>
                </a:solidFill>
                <a:latin typeface="Calibri"/>
              </a:rPr>
              <a:t>Most people never launch because
they're trying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/>
            <a:r>
              <a:rPr sz="5200" b="1" i="0">
                <a:solidFill>
                  <a:srgbClr val="FFFFFF"/>
                </a:solidFill>
                <a:latin typeface="Calibri"/>
              </a:rPr>
              <a:t>to do it </a:t>
            </a:r>
          </a:p>
          <a:p>
            <a:pPr algn="ctr"/>
            <a:r>
              <a:rPr sz="5200" b="1" i="0">
                <a:solidFill>
                  <a:srgbClr val="3ECFA0"/>
                </a:solidFill>
                <a:latin typeface="Calibri"/>
              </a:rPr>
              <a:t>alone.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99713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 i="0">
                <a:solidFill>
                  <a:srgbClr val="FFFFFF"/>
                </a:solidFill>
                <a:latin typeface="Calibri"/>
              </a:rPr>
              <a:t>With Property Labs,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/>
            <a:r>
              <a:rPr sz="4800" b="1" i="0">
                <a:solidFill>
                  <a:srgbClr val="3ECFA0"/>
                </a:solidFill>
                <a:latin typeface="Calibri"/>
              </a:rPr>
              <a:t>you never are.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99713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ECFA0"/>
                </a:solidFill>
                <a:latin typeface="Calibri"/>
              </a:rPr>
              <a:t>SECRET 2 RECAP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/>
            <a:r>
              <a:rPr sz="4000" b="0" i="0">
                <a:solidFill>
                  <a:srgbClr val="FFFFFF"/>
                </a:solidFill>
                <a:latin typeface="Calibri"/>
              </a:rPr>
              <a:t>A proven 5-step system
replaces years of experience.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/>
            <a:r>
              <a:rPr sz="4000" b="1" i="0">
                <a:solidFill>
                  <a:srgbClr val="3ECFA0"/>
                </a:solidFill>
                <a:latin typeface="Calibri"/>
              </a:rPr>
              <a:t>Anyone can run it.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99713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B3B3B3"/>
                </a:solidFill>
                <a:latin typeface="Calibri"/>
              </a:rPr>
              <a:t>Credibility raised the capital.</a:t>
            </a:r>
          </a:p>
          <a:p>
            <a:pPr algn="ctr"/>
            <a:r>
              <a:rPr sz="6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/>
            <a:r>
              <a:rPr sz="3600" b="0" i="0">
                <a:solidFill>
                  <a:srgbClr val="FFFFFF"/>
                </a:solidFill>
                <a:latin typeface="Calibri"/>
              </a:rPr>
              <a:t>The system deployed it.</a:t>
            </a:r>
          </a:p>
          <a:p>
            <a:pPr algn="ctr"/>
            <a:r>
              <a:rPr sz="6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/>
            <a:r>
              <a:rPr sz="4000" b="1" i="0">
                <a:solidFill>
                  <a:srgbClr val="3ECFA0"/>
                </a:solidFill>
                <a:latin typeface="Calibri"/>
              </a:rPr>
              <a:t>Now let's talk about the cash flow.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99713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ECFA0"/>
                </a:solidFill>
                <a:latin typeface="Calibri"/>
              </a:rPr>
              <a:t>THE THIRD SECRET</a:t>
            </a:r>
          </a:p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/>
            <a:r>
              <a:rPr sz="8000" b="1" i="0">
                <a:solidFill>
                  <a:srgbClr val="3ECFA0"/>
                </a:solidFill>
                <a:latin typeface="Calibri"/>
              </a:rPr>
              <a:t>SECRET 3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/>
            <a:r>
              <a:rPr sz="2000" b="0" i="0">
                <a:solidFill>
                  <a:srgbClr val="B3B3B3"/>
                </a:solidFill>
                <a:latin typeface="Calibri"/>
              </a:rPr>
              <a:t>The Biggest Opportunity Window in UK Airbnb History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99713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 i="0">
                <a:solidFill>
                  <a:srgbClr val="FFFFFF"/>
                </a:solidFill>
                <a:latin typeface="Calibri"/>
              </a:rPr>
              <a:t>The Biggest Opportunity Window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/>
            <a:r>
              <a:rPr sz="4800" b="1" i="0">
                <a:solidFill>
                  <a:srgbClr val="3ECFA0"/>
                </a:solidFill>
                <a:latin typeface="Calibri"/>
              </a:rPr>
              <a:t>in UK Airbnb History.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99713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0" b="1" i="0">
                <a:solidFill>
                  <a:srgbClr val="3ECFA0"/>
                </a:solidFill>
                <a:latin typeface="Calibri"/>
              </a:rPr>
              <a:t>93,000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/>
            <a:r>
              <a:rPr sz="2200" b="0" i="0">
                <a:solidFill>
                  <a:srgbClr val="B3B3B3"/>
                </a:solidFill>
                <a:latin typeface="Calibri"/>
              </a:rPr>
              <a:t>UK landlords left the market last year.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99713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 i="0">
                <a:solidFill>
                  <a:srgbClr val="B3B3B3"/>
                </a:solidFill>
                <a:latin typeface="Calibri"/>
              </a:rPr>
              <a:t>The largest exodus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/>
            <a:r>
              <a:rPr sz="4800" b="1" i="0">
                <a:solidFill>
                  <a:srgbClr val="FFFFFF"/>
                </a:solidFill>
                <a:latin typeface="Calibri"/>
              </a:rPr>
              <a:t>in modern UK </a:t>
            </a:r>
          </a:p>
          <a:p>
            <a:pPr algn="ctr"/>
            <a:r>
              <a:rPr sz="4800" b="1" i="0">
                <a:solidFill>
                  <a:srgbClr val="3ECFA0"/>
                </a:solidFill>
                <a:latin typeface="Calibri"/>
              </a:rPr>
              <a:t>property history.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99713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3ECFA0"/>
                </a:solidFill>
                <a:latin typeface="Calibri"/>
              </a:rPr>
              <a:t>Less competition.</a:t>
            </a:r>
          </a:p>
          <a:p>
            <a:pPr algn="ctr"/>
            <a:r>
              <a:rPr sz="6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/>
            <a:r>
              <a:rPr sz="4400" b="1" i="0">
                <a:solidFill>
                  <a:srgbClr val="3ECFA0"/>
                </a:solidFill>
                <a:latin typeface="Calibri"/>
              </a:rPr>
              <a:t>More available properties.</a:t>
            </a:r>
          </a:p>
          <a:p>
            <a:pPr algn="ctr"/>
            <a:r>
              <a:rPr sz="6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/>
            <a:r>
              <a:rPr sz="4400" b="0" i="0">
                <a:solidFill>
                  <a:srgbClr val="FFFFFF"/>
                </a:solidFill>
                <a:latin typeface="Calibri"/>
              </a:rPr>
              <a:t>Bigger margins for professionals.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80160" y="914400"/>
            <a:ext cx="999713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ECFA0"/>
                </a:solidFill>
                <a:latin typeface="Calibri"/>
              </a:rPr>
              <a:t>FACTOR 2</a:t>
            </a:r>
          </a:p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4800" b="0" i="0">
                <a:solidFill>
                  <a:srgbClr val="FFFFFF"/>
                </a:solidFill>
                <a:latin typeface="Calibri"/>
              </a:rPr>
              <a:t>Interest Rates Are Dropping</a:t>
            </a:r>
          </a:p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2400" b="0" i="0">
                <a:solidFill>
                  <a:srgbClr val="B3B3B3"/>
                </a:solidFill>
                <a:latin typeface="Calibri"/>
              </a:rPr>
              <a:t>Cheaper capital. Lower borrowing costs.
Better net returns on every unit.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80160" y="914400"/>
            <a:ext cx="999713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ECFA0"/>
                </a:solidFill>
                <a:latin typeface="Calibri"/>
              </a:rPr>
              <a:t>FACTOR 3</a:t>
            </a:r>
          </a:p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4800" b="0" i="0">
                <a:solidFill>
                  <a:srgbClr val="FFFFFF"/>
                </a:solidFill>
                <a:latin typeface="Calibri"/>
              </a:rPr>
              <a:t>New Registration Scheme</a:t>
            </a:r>
          </a:p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2400" b="0" i="0">
                <a:solidFill>
                  <a:srgbClr val="B3B3B3"/>
                </a:solidFill>
                <a:latin typeface="Calibri"/>
              </a:rPr>
              <a:t>The government is clearing out amateur hosts.
Compliance requirements are rising. Professionals win.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99713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B3B3B3"/>
                </a:solidFill>
                <a:latin typeface="Calibri"/>
              </a:rPr>
              <a:t>When the rules tighten,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/>
            <a:r>
              <a:rPr sz="4800" b="1" i="0">
                <a:solidFill>
                  <a:srgbClr val="FFFFFF"/>
                </a:solidFill>
                <a:latin typeface="Calibri"/>
              </a:rPr>
              <a:t>professional operators </a:t>
            </a:r>
          </a:p>
          <a:p>
            <a:pPr algn="ctr"/>
            <a:r>
              <a:rPr sz="4800" b="1" i="0">
                <a:solidFill>
                  <a:srgbClr val="3ECFA0"/>
                </a:solidFill>
                <a:latin typeface="Calibri"/>
              </a:rPr>
              <a:t>win.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99713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ECFA0"/>
                </a:solidFill>
                <a:latin typeface="Calibri"/>
              </a:rPr>
              <a:t>THE EQUATION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/>
            <a:r>
              <a:rPr sz="3200" b="1" i="0">
                <a:solidFill>
                  <a:srgbClr val="3ECFA0"/>
                </a:solidFill>
                <a:latin typeface="Calibri"/>
              </a:rPr>
              <a:t>Less Competition</a:t>
            </a:r>
          </a:p>
          <a:p>
            <a:pPr algn="ctr"/>
            <a:r>
              <a:rPr sz="3200" b="0" i="0">
                <a:solidFill>
                  <a:srgbClr val="FFFFFF"/>
                </a:solidFill>
                <a:latin typeface="Calibri"/>
              </a:rPr>
              <a:t>+  Cheaper Capital</a:t>
            </a:r>
          </a:p>
          <a:p>
            <a:pPr algn="ctr"/>
            <a:r>
              <a:rPr sz="3200" b="1" i="0">
                <a:solidFill>
                  <a:srgbClr val="3ECFA0"/>
                </a:solidFill>
                <a:latin typeface="Calibri"/>
              </a:rPr>
              <a:t>+  Higher Barriers to Entry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=  </a:t>
            </a:r>
          </a:p>
          <a:p>
            <a:pPr algn="ctr"/>
            <a:r>
              <a:rPr sz="4400" b="1" i="0">
                <a:solidFill>
                  <a:srgbClr val="3ECFA0"/>
                </a:solidFill>
                <a:latin typeface="Calibri"/>
              </a:rPr>
              <a:t>Bigger Moat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99713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 i="0">
                <a:solidFill>
                  <a:srgbClr val="B3B3B3"/>
                </a:solidFill>
                <a:latin typeface="Calibri"/>
              </a:rPr>
              <a:t>The window is open.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/>
            <a:r>
              <a:rPr sz="4800" b="1" i="0">
                <a:solidFill>
                  <a:srgbClr val="3ECFA0"/>
                </a:solidFill>
                <a:latin typeface="Calibri"/>
              </a:rPr>
              <a:t>It won't stay open forever.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99713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ECFA0"/>
                </a:solidFill>
                <a:latin typeface="Calibri"/>
              </a:rPr>
              <a:t>CASE STUDY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/>
            <a:r>
              <a:rPr sz="6400" b="1" i="0">
                <a:solidFill>
                  <a:srgbClr val="3ECFA0"/>
                </a:solidFill>
                <a:latin typeface="Calibri"/>
              </a:rPr>
              <a:t>Dylan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/>
            <a:r>
              <a:rPr sz="2800" b="0" i="0">
                <a:solidFill>
                  <a:srgbClr val="FFFFFF"/>
                </a:solidFill>
                <a:latin typeface="Calibri"/>
              </a:rPr>
              <a:t>Six-figure events company.
Wanted assets, not just income.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80160" y="914400"/>
            <a:ext cx="999713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ECFA0"/>
                </a:solidFill>
                <a:latin typeface="Calibri"/>
              </a:rPr>
              <a:t>DYLAN — 3 MONTHS IN</a:t>
            </a:r>
          </a:p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4400" b="1" i="0">
                <a:solidFill>
                  <a:srgbClr val="3ECFA0"/>
                </a:solidFill>
                <a:latin typeface="Calibri"/>
              </a:rPr>
              <a:t>5 Airbnbs.</a:t>
            </a:r>
          </a:p>
          <a:p>
            <a:pPr algn="l"/>
            <a:r>
              <a:rPr sz="6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3600" b="0" i="0">
                <a:solidFill>
                  <a:srgbClr val="FFFFFF"/>
                </a:solidFill>
                <a:latin typeface="Calibri"/>
              </a:rPr>
              <a:t>All systemised. All running.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99713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ECFA0"/>
                </a:solidFill>
                <a:latin typeface="Calibri"/>
              </a:rPr>
              <a:t>DYLAN'S BEST MONTH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/>
            <a:r>
              <a:rPr sz="10000" b="1" i="0">
                <a:solidFill>
                  <a:srgbClr val="3ECFA0"/>
                </a:solidFill>
                <a:latin typeface="Calibri"/>
              </a:rPr>
              <a:t>£12,000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99713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B3B3B3"/>
                </a:solidFill>
                <a:latin typeface="Calibri"/>
              </a:rPr>
              <a:t>He bought a Richard Mille.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/>
            <a:r>
              <a:rPr sz="4800" b="1" i="0">
                <a:solidFill>
                  <a:srgbClr val="FFFFFF"/>
                </a:solidFill>
                <a:latin typeface="Calibri"/>
              </a:rPr>
              <a:t>Because the </a:t>
            </a:r>
          </a:p>
          <a:p>
            <a:pPr algn="ctr"/>
            <a:r>
              <a:rPr sz="4800" b="1" i="0">
                <a:solidFill>
                  <a:srgbClr val="3ECFA0"/>
                </a:solidFill>
                <a:latin typeface="Calibri"/>
              </a:rPr>
              <a:t>system works.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99713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ECFA0"/>
                </a:solidFill>
                <a:latin typeface="Calibri"/>
              </a:rPr>
              <a:t>CASE STUDY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/>
            <a:r>
              <a:rPr sz="6400" b="1" i="0">
                <a:solidFill>
                  <a:srgbClr val="3ECFA0"/>
                </a:solidFill>
                <a:latin typeface="Calibri"/>
              </a:rPr>
              <a:t>Elite Kleans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/>
            <a:r>
              <a:rPr sz="2800" b="0" i="0">
                <a:solidFill>
                  <a:srgbClr val="FFFFFF"/>
                </a:solidFill>
                <a:latin typeface="Calibri"/>
              </a:rPr>
              <a:t>Cleaning company.
Wanted to own, not just service.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80160" y="914400"/>
            <a:ext cx="999713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ECFA0"/>
                </a:solidFill>
                <a:latin typeface="Calibri"/>
              </a:rPr>
              <a:t>ELITE KLEANS — RESULT</a:t>
            </a:r>
          </a:p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3600" b="0" i="0">
                <a:solidFill>
                  <a:srgbClr val="FFFFFF"/>
                </a:solidFill>
                <a:latin typeface="Calibri"/>
              </a:rPr>
              <a:t>1 unit sourced.</a:t>
            </a:r>
          </a:p>
          <a:p>
            <a:pPr algn="l"/>
            <a:r>
              <a:rPr sz="6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4400" b="1" i="0">
                <a:solidFill>
                  <a:srgbClr val="3ECFA0"/>
                </a:solidFill>
                <a:latin typeface="Calibri"/>
              </a:rPr>
              <a:t>£2,200/month.</a:t>
            </a:r>
          </a:p>
          <a:p>
            <a:pPr algn="l"/>
            <a:r>
              <a:rPr sz="6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2200" b="0" i="0">
                <a:solidFill>
                  <a:srgbClr val="B3B3B3"/>
                </a:solidFill>
                <a:latin typeface="Calibri"/>
              </a:rPr>
              <a:t>Service business became
an asset-backed portfolio.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99713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ECFA0"/>
                </a:solidFill>
                <a:latin typeface="Calibri"/>
              </a:rPr>
              <a:t>THE FULL SYSTEM</a:t>
            </a:r>
          </a:p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/>
            <a:r>
              <a:rPr sz="7200" b="1" i="0">
                <a:solidFill>
                  <a:srgbClr val="3ECFA0"/>
                </a:solidFill>
                <a:latin typeface="Calibri"/>
              </a:rPr>
              <a:t>C  →  C  →  C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/>
            <a:r>
              <a:rPr sz="2400" b="0" i="0">
                <a:solidFill>
                  <a:srgbClr val="B3B3B3"/>
                </a:solidFill>
                <a:latin typeface="Calibri"/>
              </a:rPr>
              <a:t>Credibility  →  Capital  →  Cash Flow</a:t>
            </a:r>
          </a:p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/>
            <a:r>
              <a:rPr sz="2400" b="0" i="0">
                <a:solidFill>
                  <a:srgbClr val="B3B3B3"/>
                </a:solidFill>
                <a:latin typeface="Calibri"/>
              </a:rPr>
              <a:t>This is how complete beginners did it.
This is how </a:t>
            </a:r>
          </a:p>
          <a:p>
            <a:pPr algn="ctr"/>
            <a:r>
              <a:rPr sz="2400" b="1" i="0">
                <a:solidFill>
                  <a:srgbClr val="3ECFA0"/>
                </a:solidFill>
                <a:latin typeface="Calibri"/>
              </a:rPr>
              <a:t>you</a:t>
            </a:r>
          </a:p>
          <a:p>
            <a:pPr algn="ctr"/>
            <a:r>
              <a:rPr sz="2400" b="0" i="0">
                <a:solidFill>
                  <a:srgbClr val="B3B3B3"/>
                </a:solidFill>
                <a:latin typeface="Calibri"/>
              </a:rPr>
              <a:t> can do it.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99713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3ECFA0"/>
                </a:solidFill>
                <a:latin typeface="Calibri"/>
              </a:rPr>
              <a:t>CAPITAL FOLLOWS CONVICTION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99713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B3B3B3"/>
                </a:solidFill>
                <a:latin typeface="Calibri"/>
              </a:rPr>
              <a:t>You don't need money.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You need </a:t>
            </a:r>
          </a:p>
          <a:p>
            <a:pPr algn="ctr"/>
            <a:r>
              <a:rPr sz="4400" b="1" i="0">
                <a:solidFill>
                  <a:srgbClr val="3ECFA0"/>
                </a:solidFill>
                <a:latin typeface="Calibri"/>
              </a:rPr>
              <a:t>credibility,</a:t>
            </a:r>
          </a:p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 a system, and conviction.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99713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ECFA0"/>
                </a:solidFill>
                <a:latin typeface="Calibri"/>
              </a:rPr>
              <a:t>RIGHT NOW, IN THIS MOMENT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/>
            <a:r>
              <a:rPr sz="4800" b="1" i="0">
                <a:solidFill>
                  <a:srgbClr val="FFFFFF"/>
                </a:solidFill>
                <a:latin typeface="Calibri"/>
              </a:rPr>
              <a:t>You're standing at a </a:t>
            </a:r>
          </a:p>
          <a:p>
            <a:pPr algn="ctr"/>
            <a:r>
              <a:rPr sz="4800" b="1" i="0">
                <a:solidFill>
                  <a:srgbClr val="3ECFA0"/>
                </a:solidFill>
                <a:latin typeface="Calibri"/>
              </a:rPr>
              <a:t>fork in the road.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80160" y="914400"/>
            <a:ext cx="999713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ECFA0"/>
                </a:solidFill>
                <a:latin typeface="Calibri"/>
              </a:rPr>
              <a:t>TWO PATHS FORWARD</a:t>
            </a:r>
          </a:p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2000" b="1" i="0">
                <a:solidFill>
                  <a:srgbClr val="3ECFA0"/>
                </a:solidFill>
                <a:latin typeface="Calibri"/>
              </a:rPr>
              <a:t>PATH ONE</a:t>
            </a:r>
          </a:p>
          <a:p>
            <a:pPr algn="l"/>
            <a:r>
              <a:rPr sz="2600" b="0" i="0">
                <a:solidFill>
                  <a:srgbClr val="B3B3B3"/>
                </a:solidFill>
                <a:latin typeface="Calibri"/>
              </a:rPr>
              <a:t>Leave tonight feeling inspired.</a:t>
            </a:r>
          </a:p>
          <a:p>
            <a:pPr algn="l"/>
            <a:r>
              <a:rPr sz="2600" b="0" i="0">
                <a:solidFill>
                  <a:srgbClr val="B3B3B3"/>
                </a:solidFill>
                <a:latin typeface="Calibri"/>
              </a:rPr>
              <a:t>Feel great for 24 hours.</a:t>
            </a:r>
          </a:p>
          <a:p>
            <a:pPr algn="l"/>
            <a:r>
              <a:rPr sz="2600" b="0" i="0">
                <a:solidFill>
                  <a:srgbClr val="B3B3B3"/>
                </a:solidFill>
                <a:latin typeface="Calibri"/>
              </a:rPr>
              <a:t>Back to normal by Monday.</a:t>
            </a:r>
          </a:p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2000" b="1" i="0">
                <a:solidFill>
                  <a:srgbClr val="3ECFA0"/>
                </a:solidFill>
                <a:latin typeface="Calibri"/>
              </a:rPr>
              <a:t>PATH TWO</a:t>
            </a:r>
          </a:p>
          <a:p>
            <a:pPr algn="l"/>
            <a:r>
              <a:rPr sz="2600" b="0" i="0">
                <a:solidFill>
                  <a:srgbClr val="FFFFFF"/>
                </a:solidFill>
                <a:latin typeface="Calibri"/>
              </a:rPr>
              <a:t>Decide tonight.</a:t>
            </a:r>
          </a:p>
          <a:p>
            <a:pPr algn="l"/>
            <a:r>
              <a:rPr sz="2600" b="0" i="0">
                <a:solidFill>
                  <a:srgbClr val="FFFFFF"/>
                </a:solidFill>
                <a:latin typeface="Calibri"/>
              </a:rPr>
              <a:t>Take the next step.</a:t>
            </a:r>
          </a:p>
          <a:p>
            <a:pPr algn="l"/>
            <a:r>
              <a:rPr sz="2600" b="0" i="0">
                <a:solidFill>
                  <a:srgbClr val="FFFFFF"/>
                </a:solidFill>
                <a:latin typeface="Calibri"/>
              </a:rPr>
              <a:t>12 months from now — different life.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80160" y="914400"/>
            <a:ext cx="999713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ECFA0"/>
                </a:solidFill>
                <a:latin typeface="Calibri"/>
              </a:rPr>
              <a:t>12 MONTHS ON PATH ONE</a:t>
            </a:r>
          </a:p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4000" b="0" i="0">
                <a:solidFill>
                  <a:srgbClr val="FFFFFF"/>
                </a:solidFill>
                <a:latin typeface="Calibri"/>
              </a:rPr>
              <a:t>Same salary.</a:t>
            </a:r>
          </a:p>
          <a:p>
            <a:pPr algn="l"/>
            <a:r>
              <a:rPr sz="6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4000" b="1" i="0">
                <a:solidFill>
                  <a:srgbClr val="3ECFA0"/>
                </a:solidFill>
                <a:latin typeface="Calibri"/>
              </a:rPr>
              <a:t>Same frustration.</a:t>
            </a:r>
          </a:p>
          <a:p>
            <a:pPr algn="l"/>
            <a:r>
              <a:rPr sz="6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4000" b="0" i="0">
                <a:solidFill>
                  <a:srgbClr val="B3B3B3"/>
                </a:solidFill>
                <a:latin typeface="Calibri"/>
              </a:rPr>
              <a:t>Same scroll.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99713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 i="0">
                <a:solidFill>
                  <a:srgbClr val="FFFFFF"/>
                </a:solidFill>
                <a:latin typeface="Calibri"/>
              </a:rPr>
              <a:t>Path Two starts with one decision.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/>
            <a:r>
              <a:rPr sz="6400" b="1" i="0">
                <a:solidFill>
                  <a:srgbClr val="3ECFA0"/>
                </a:solidFill>
                <a:latin typeface="Calibri"/>
              </a:rPr>
              <a:t>Tonight.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99713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B3B3B3"/>
                </a:solidFill>
                <a:latin typeface="Calibri"/>
              </a:rPr>
              <a:t>Not a massive leap.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/>
            <a:r>
              <a:rPr sz="5200" b="1" i="0">
                <a:solidFill>
                  <a:srgbClr val="FFFFFF"/>
                </a:solidFill>
                <a:latin typeface="Calibri"/>
              </a:rPr>
              <a:t>Just the </a:t>
            </a:r>
          </a:p>
          <a:p>
            <a:pPr algn="ctr"/>
            <a:r>
              <a:rPr sz="5200" b="1" i="0">
                <a:solidFill>
                  <a:srgbClr val="3ECFA0"/>
                </a:solidFill>
                <a:latin typeface="Calibri"/>
              </a:rPr>
              <a:t>next step.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/>
            <a:r>
              <a:rPr sz="2400" b="0" i="0">
                <a:solidFill>
                  <a:srgbClr val="B3B3B3"/>
                </a:solidFill>
                <a:latin typeface="Calibri"/>
              </a:rPr>
              <a:t>A conversation. 30 minutes. That's it.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99713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3ECFA0"/>
                </a:solidFill>
                <a:latin typeface="Calibri"/>
              </a:rPr>
              <a:t>Complete beginners</a:t>
            </a:r>
          </a:p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 have already proven this works.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/>
            <a:r>
              <a:rPr sz="4000" b="0" i="0">
                <a:solidFill>
                  <a:srgbClr val="B3B3B3"/>
                </a:solidFill>
                <a:latin typeface="Calibri"/>
              </a:rPr>
              <a:t>The only missing piece</a:t>
            </a:r>
          </a:p>
          <a:p>
            <a:pPr algn="ctr"/>
            <a:r>
              <a:rPr sz="6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/>
            <a:r>
              <a:rPr sz="5200" b="1" i="0">
                <a:solidFill>
                  <a:srgbClr val="3ECFA0"/>
                </a:solidFill>
                <a:latin typeface="Calibri"/>
              </a:rPr>
              <a:t>is you.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99713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ECFA0"/>
                </a:solidFill>
                <a:latin typeface="Calibri"/>
              </a:rPr>
              <a:t>EVERYTHING YOU NEED TO LAUNCH</a:t>
            </a:r>
          </a:p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/>
            <a:r>
              <a:rPr sz="8000" b="1" i="0">
                <a:solidFill>
                  <a:srgbClr val="3ECFA0"/>
                </a:solidFill>
                <a:latin typeface="Calibri"/>
              </a:rPr>
              <a:t>Property Labs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/>
            <a:r>
              <a:rPr sz="2000" b="0" i="0">
                <a:solidFill>
                  <a:srgbClr val="B3B3B3"/>
                </a:solidFill>
                <a:latin typeface="Calibri"/>
              </a:rPr>
              <a:t>Let me show you exactly what's inside.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80160" y="914400"/>
            <a:ext cx="999713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ECFA0"/>
                </a:solidFill>
                <a:latin typeface="Calibri"/>
              </a:rPr>
              <a:t>COMPONENT 1</a:t>
            </a:r>
          </a:p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4400" b="0" i="0">
                <a:solidFill>
                  <a:srgbClr val="FFFFFF"/>
                </a:solidFill>
                <a:latin typeface="Calibri"/>
              </a:rPr>
              <a:t>7-Module Airbnb
Foundations Course</a:t>
            </a:r>
          </a:p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2400" b="0" i="0">
                <a:solidFill>
                  <a:srgbClr val="B3B3B3"/>
                </a:solidFill>
                <a:latin typeface="Calibri"/>
              </a:rPr>
              <a:t>Everything from deal structure to guest experience.
The full operating playbook.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80160" y="914400"/>
            <a:ext cx="999713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ECFA0"/>
                </a:solidFill>
                <a:latin typeface="Calibri"/>
              </a:rPr>
              <a:t>COMPONENT 2</a:t>
            </a:r>
          </a:p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4400" b="0" i="0">
                <a:solidFill>
                  <a:srgbClr val="FFFFFF"/>
                </a:solidFill>
                <a:latin typeface="Calibri"/>
              </a:rPr>
              <a:t>Raising Finance Course</a:t>
            </a:r>
          </a:p>
          <a:p>
            <a:pPr algn="l"/>
            <a:r>
              <a:rPr sz="6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2800" b="1" i="0">
                <a:solidFill>
                  <a:srgbClr val="3ECFA0"/>
                </a:solidFill>
                <a:latin typeface="Calibri"/>
              </a:rPr>
              <a:t>"Nobody else teaches this."</a:t>
            </a:r>
          </a:p>
          <a:p>
            <a:pPr algn="l"/>
            <a:r>
              <a:rPr sz="6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2200" b="0" i="0">
                <a:solidFill>
                  <a:srgbClr val="B3B3B3"/>
                </a:solidFill>
                <a:latin typeface="Calibri"/>
              </a:rPr>
              <a:t>How to approach investors. The Credibility Pack.
Legal frameworks. Word-for-word scripts.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80160" y="914400"/>
            <a:ext cx="999713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ECFA0"/>
                </a:solidFill>
                <a:latin typeface="Calibri"/>
              </a:rPr>
              <a:t>COMPONENT 3</a:t>
            </a:r>
          </a:p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4400" b="0" i="0">
                <a:solidFill>
                  <a:srgbClr val="FFFFFF"/>
                </a:solidFill>
                <a:latin typeface="Calibri"/>
              </a:rPr>
              <a:t>Legal Contract Pack</a:t>
            </a:r>
          </a:p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2200" b="0" i="0">
                <a:solidFill>
                  <a:srgbClr val="B3B3B3"/>
                </a:solidFill>
                <a:latin typeface="Calibri"/>
              </a:rPr>
              <a:t>JV agreements. Rent-to-rent contracts.
Investor loan agreements. Professionally drafted. Ready to use.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80160" y="914400"/>
            <a:ext cx="999713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ECFA0"/>
                </a:solidFill>
                <a:latin typeface="Calibri"/>
              </a:rPr>
              <a:t>COMPONENT 4</a:t>
            </a:r>
          </a:p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4400" b="0" i="0">
                <a:solidFill>
                  <a:srgbClr val="FFFFFF"/>
                </a:solidFill>
                <a:latin typeface="Calibri"/>
              </a:rPr>
              <a:t>Deal Sourcing Team Access</a:t>
            </a:r>
          </a:p>
          <a:p>
            <a:pPr algn="l"/>
            <a:r>
              <a:rPr sz="6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2800" b="1" i="0">
                <a:solidFill>
                  <a:srgbClr val="3ECFA0"/>
                </a:solidFill>
                <a:latin typeface="Calibri"/>
              </a:rPr>
              <a:t>"This is what makes us different."</a:t>
            </a:r>
          </a:p>
          <a:p>
            <a:pPr algn="l"/>
            <a:r>
              <a:rPr sz="6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2200" b="0" i="0">
                <a:solidFill>
                  <a:srgbClr val="B3B3B3"/>
                </a:solidFill>
                <a:latin typeface="Calibri"/>
              </a:rPr>
              <a:t>A team that finds the properties for you.
You don't spend months searching Rightmove.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80160" y="914400"/>
            <a:ext cx="999713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ECFA0"/>
                </a:solidFill>
                <a:latin typeface="Calibri"/>
              </a:rPr>
              <a:t>COMPONENT 5</a:t>
            </a:r>
          </a:p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4400" b="0" i="0">
                <a:solidFill>
                  <a:srgbClr val="FFFFFF"/>
                </a:solidFill>
                <a:latin typeface="Calibri"/>
              </a:rPr>
              <a:t>Cleaning &amp; Maintenance Team</a:t>
            </a:r>
          </a:p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2200" b="0" i="0">
                <a:solidFill>
                  <a:srgbClr val="B3B3B3"/>
                </a:solidFill>
                <a:latin typeface="Calibri"/>
              </a:rPr>
              <a:t>Your operational backbone.
Vetted. Reliable. Built into the system from day one.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80160" y="914400"/>
            <a:ext cx="999713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ECFA0"/>
                </a:solidFill>
                <a:latin typeface="Calibri"/>
              </a:rPr>
              <a:t>COMPONENT 6</a:t>
            </a:r>
          </a:p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4400" b="0" i="0">
                <a:solidFill>
                  <a:srgbClr val="FFFFFF"/>
                </a:solidFill>
                <a:latin typeface="Calibri"/>
              </a:rPr>
              <a:t>Weekly Group Coaching Calls</a:t>
            </a:r>
          </a:p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2200" b="0" i="0">
                <a:solidFill>
                  <a:srgbClr val="B3B3B3"/>
                </a:solidFill>
                <a:latin typeface="Calibri"/>
              </a:rPr>
              <a:t>Live sessions. Real questions. Real answers.
Plus a community of people building alongside you.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80160" y="914400"/>
            <a:ext cx="999713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ECFA0"/>
                </a:solidFill>
                <a:latin typeface="Calibri"/>
              </a:rPr>
              <a:t>COMPONENT 7</a:t>
            </a:r>
          </a:p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4400" b="0" i="0">
                <a:solidFill>
                  <a:srgbClr val="FFFFFF"/>
                </a:solidFill>
                <a:latin typeface="Calibri"/>
              </a:rPr>
              <a:t>The Full Toolkit</a:t>
            </a:r>
          </a:p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2200" b="0" i="0">
                <a:solidFill>
                  <a:srgbClr val="B3B3B3"/>
                </a:solidFill>
                <a:latin typeface="Calibri"/>
              </a:rPr>
              <a:t>Investor outreach scripts. Pricing calculators.
Deal analysis sheets. Listing templates.
Everything pre-built.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80160" y="914400"/>
            <a:ext cx="999713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ECFA0"/>
                </a:solidFill>
                <a:latin typeface="Calibri"/>
              </a:rPr>
              <a:t>EVERYTHING INSIDE PROPERTY LABS</a:t>
            </a:r>
          </a:p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7-Module Foundations Course</a:t>
            </a:r>
          </a:p>
          <a:p>
            <a:pPr algn="l"/>
            <a:r>
              <a:rPr sz="2000" b="1" i="0">
                <a:solidFill>
                  <a:srgbClr val="3ECFA0"/>
                </a:solidFill>
                <a:latin typeface="Calibri"/>
              </a:rPr>
              <a:t>£2,000</a:t>
            </a:r>
          </a:p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Raising Finance Course</a:t>
            </a:r>
          </a:p>
          <a:p>
            <a:pPr algn="l"/>
            <a:r>
              <a:rPr sz="2000" b="1" i="0">
                <a:solidFill>
                  <a:srgbClr val="3ECFA0"/>
                </a:solidFill>
                <a:latin typeface="Calibri"/>
              </a:rPr>
              <a:t>£3,000</a:t>
            </a:r>
          </a:p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Legal Contract Pack</a:t>
            </a:r>
          </a:p>
          <a:p>
            <a:pPr algn="l"/>
            <a:r>
              <a:rPr sz="2000" b="1" i="0">
                <a:solidFill>
                  <a:srgbClr val="3ECFA0"/>
                </a:solidFill>
                <a:latin typeface="Calibri"/>
              </a:rPr>
              <a:t>£1,500</a:t>
            </a:r>
          </a:p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Deal Sourcing Team Access</a:t>
            </a:r>
          </a:p>
          <a:p>
            <a:pPr algn="l"/>
            <a:r>
              <a:rPr sz="2000" b="1" i="0">
                <a:solidFill>
                  <a:srgbClr val="3ECFA0"/>
                </a:solidFill>
                <a:latin typeface="Calibri"/>
              </a:rPr>
              <a:t>£5,000+</a:t>
            </a:r>
          </a:p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Cleaning &amp; Maintenance Team</a:t>
            </a:r>
          </a:p>
          <a:p>
            <a:pPr algn="l"/>
            <a:r>
              <a:rPr sz="2000" b="1" i="0">
                <a:solidFill>
                  <a:srgbClr val="3ECFA0"/>
                </a:solidFill>
                <a:latin typeface="Calibri"/>
              </a:rPr>
              <a:t>£2,000</a:t>
            </a:r>
          </a:p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Weekly Group Coaching + Community</a:t>
            </a:r>
          </a:p>
          <a:p>
            <a:pPr algn="l"/>
            <a:r>
              <a:rPr sz="2000" b="1" i="0">
                <a:solidFill>
                  <a:srgbClr val="3ECFA0"/>
                </a:solidFill>
                <a:latin typeface="Calibri"/>
              </a:rPr>
              <a:t>£3,000</a:t>
            </a:r>
          </a:p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Full Toolkit</a:t>
            </a:r>
          </a:p>
          <a:p>
            <a:pPr algn="l"/>
            <a:r>
              <a:rPr sz="2000" b="1" i="0">
                <a:solidFill>
                  <a:srgbClr val="3ECFA0"/>
                </a:solidFill>
                <a:latin typeface="Calibri"/>
              </a:rPr>
              <a:t>£500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99713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ECFA0"/>
                </a:solidFill>
                <a:latin typeface="Calibri"/>
              </a:rPr>
              <a:t>IF YOU GOT THIS SEPARATELY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/>
            <a:r>
              <a:rPr sz="8800" b="1" i="0">
                <a:solidFill>
                  <a:srgbClr val="B3B3B3"/>
                </a:solidFill>
                <a:latin typeface="Calibri"/>
              </a:rPr>
              <a:t>£17,000+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99713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ECFA0"/>
                </a:solidFill>
                <a:latin typeface="Calibri"/>
              </a:rPr>
              <a:t>CHOOSE YOUR PATH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/>
            <a:r>
              <a:rPr sz="5600" b="1" i="0">
                <a:solidFill>
                  <a:srgbClr val="3ECFA0"/>
                </a:solidFill>
                <a:latin typeface="Calibri"/>
              </a:rPr>
              <a:t>4 Investment Levels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/>
            <a:r>
              <a:rPr sz="2400" b="0" i="0">
                <a:solidFill>
                  <a:srgbClr val="B3B3B3"/>
                </a:solidFill>
                <a:latin typeface="Calibri"/>
              </a:rPr>
              <a:t>Each designed for where you are right now.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80160" y="914400"/>
            <a:ext cx="999713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ECFA0"/>
                </a:solidFill>
                <a:latin typeface="Calibri"/>
              </a:rPr>
              <a:t>TIER 1</a:t>
            </a:r>
          </a:p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4800" b="0" i="0">
                <a:solidFill>
                  <a:srgbClr val="FFFFFF"/>
                </a:solidFill>
                <a:latin typeface="Calibri"/>
              </a:rPr>
              <a:t>Foundations Course</a:t>
            </a:r>
          </a:p>
          <a:p>
            <a:pPr algn="l"/>
            <a:r>
              <a:rPr sz="6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2400" b="0" i="0">
                <a:solidFill>
                  <a:srgbClr val="B3B3B3"/>
                </a:solidFill>
                <a:latin typeface="Calibri"/>
              </a:rPr>
              <a:t>Self-study. The full operating blueprint.</a:t>
            </a:r>
          </a:p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6400" b="1" i="0">
                <a:solidFill>
                  <a:srgbClr val="3ECFA0"/>
                </a:solidFill>
                <a:latin typeface="Calibri"/>
              </a:rPr>
              <a:t>£500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80160" y="914400"/>
            <a:ext cx="999713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ECFA0"/>
                </a:solidFill>
                <a:latin typeface="Calibri"/>
              </a:rPr>
              <a:t>TIER 2</a:t>
            </a:r>
          </a:p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4800" b="0" i="0">
                <a:solidFill>
                  <a:srgbClr val="FFFFFF"/>
                </a:solidFill>
                <a:latin typeface="Calibri"/>
              </a:rPr>
              <a:t>Both Courses</a:t>
            </a:r>
          </a:p>
          <a:p>
            <a:pPr algn="l"/>
            <a:r>
              <a:rPr sz="6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2400" b="0" i="0">
                <a:solidFill>
                  <a:srgbClr val="B3B3B3"/>
                </a:solidFill>
                <a:latin typeface="Calibri"/>
              </a:rPr>
              <a:t>The full blueprint including the Raising Finance Course.
The complete picture.</a:t>
            </a:r>
          </a:p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6400" b="1" i="0">
                <a:solidFill>
                  <a:srgbClr val="3ECFA0"/>
                </a:solidFill>
                <a:latin typeface="Calibri"/>
              </a:rPr>
              <a:t>£1,000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80160" y="914400"/>
            <a:ext cx="999713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ECFA0"/>
                </a:solidFill>
                <a:latin typeface="Calibri"/>
              </a:rPr>
              <a:t>TIER 3 — MOST POPULAR</a:t>
            </a:r>
          </a:p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4800" b="0" i="0">
                <a:solidFill>
                  <a:srgbClr val="FFFFFF"/>
                </a:solidFill>
                <a:latin typeface="Calibri"/>
              </a:rPr>
              <a:t>Group Coaching</a:t>
            </a:r>
          </a:p>
          <a:p>
            <a:pPr algn="l"/>
            <a:r>
              <a:rPr sz="6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2400" b="0" i="0">
                <a:solidFill>
                  <a:srgbClr val="B3B3B3"/>
                </a:solidFill>
                <a:latin typeface="Calibri"/>
              </a:rPr>
              <a:t>Both courses + deal sourcing team + cleaning team
+ weekly calls + community + full toolkit.</a:t>
            </a:r>
          </a:p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6400" b="1" i="0">
                <a:solidFill>
                  <a:srgbClr val="3ECFA0"/>
                </a:solidFill>
                <a:latin typeface="Calibri"/>
              </a:rPr>
              <a:t>£3,000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80160" y="914400"/>
            <a:ext cx="999713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ECFA0"/>
                </a:solidFill>
                <a:latin typeface="Calibri"/>
              </a:rPr>
              <a:t>TIER 4</a:t>
            </a:r>
          </a:p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4800" b="0" i="0">
                <a:solidFill>
                  <a:srgbClr val="FFFFFF"/>
                </a:solidFill>
                <a:latin typeface="Calibri"/>
              </a:rPr>
              <a:t>1:1 Coaching</a:t>
            </a:r>
          </a:p>
          <a:p>
            <a:pPr algn="l"/>
            <a:r>
              <a:rPr sz="6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2400" b="0" i="0">
                <a:solidFill>
                  <a:srgbClr val="B3B3B3"/>
                </a:solidFill>
                <a:latin typeface="Calibri"/>
              </a:rPr>
              <a:t>Everything in Tier 3, plus weekly personal sessions
with Terry. Maximum accountability. Maximum results.</a:t>
            </a:r>
          </a:p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6400" b="1" i="0">
                <a:solidFill>
                  <a:srgbClr val="3ECFA0"/>
                </a:solidFill>
                <a:latin typeface="Calibri"/>
              </a:rPr>
              <a:t>£5,000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80160" y="914400"/>
            <a:ext cx="999713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ECFA0"/>
                </a:solidFill>
                <a:latin typeface="Calibri"/>
              </a:rPr>
              <a:t>ALL FOUR LEVELS AT A GLANCE</a:t>
            </a:r>
          </a:p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2600" b="0" i="0">
                <a:solidFill>
                  <a:srgbClr val="FFFFFF"/>
                </a:solidFill>
                <a:latin typeface="Calibri"/>
              </a:rPr>
              <a:t>Foundations Course         £500</a:t>
            </a:r>
          </a:p>
          <a:p>
            <a:pPr algn="l"/>
            <a:r>
              <a:rPr sz="2600" b="0" i="0">
                <a:solidFill>
                  <a:srgbClr val="FFFFFF"/>
                </a:solidFill>
                <a:latin typeface="Calibri"/>
              </a:rPr>
              <a:t>Both Courses               £1,000</a:t>
            </a:r>
          </a:p>
          <a:p>
            <a:pPr algn="l"/>
            <a:r>
              <a:rPr sz="2600" b="1" i="0">
                <a:solidFill>
                  <a:srgbClr val="3ECFA0"/>
                </a:solidFill>
                <a:latin typeface="Calibri"/>
              </a:rPr>
              <a:t>Group Coaching ★           £3,000</a:t>
            </a:r>
          </a:p>
          <a:p>
            <a:pPr algn="l"/>
            <a:r>
              <a:rPr sz="2600" b="0" i="0">
                <a:solidFill>
                  <a:srgbClr val="FFFFFF"/>
                </a:solidFill>
                <a:latin typeface="Calibri"/>
              </a:rPr>
              <a:t>1:1 Coaching               £5,000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99713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ECFA0"/>
                </a:solidFill>
                <a:latin typeface="Calibri"/>
              </a:rPr>
              <a:t>OUR PROMISE TO YOU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/>
            <a:r>
              <a:rPr sz="5200" b="1" i="0">
                <a:solidFill>
                  <a:srgbClr val="FFFFFF"/>
                </a:solidFill>
                <a:latin typeface="Calibri"/>
              </a:rPr>
              <a:t>The </a:t>
            </a:r>
          </a:p>
          <a:p>
            <a:pPr algn="ctr"/>
            <a:r>
              <a:rPr sz="5200" b="1" i="0">
                <a:solidFill>
                  <a:srgbClr val="3ECFA0"/>
                </a:solidFill>
                <a:latin typeface="Calibri"/>
              </a:rPr>
              <a:t>90-Day Guarantee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99713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 i="1">
                <a:solidFill>
                  <a:srgbClr val="FFFFFF"/>
                </a:solidFill>
                <a:latin typeface="Calibri"/>
              </a:rPr>
              <a:t>Your first profitable Airbnb in 90 days.</a:t>
            </a:r>
          </a:p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/>
            <a:r>
              <a:rPr sz="3200" b="0" i="0">
                <a:solidFill>
                  <a:srgbClr val="B3B3B3"/>
                </a:solidFill>
                <a:latin typeface="Calibri"/>
              </a:rPr>
              <a:t>Or we keep working with you.</a:t>
            </a:r>
          </a:p>
          <a:p>
            <a:pPr algn="ctr"/>
            <a:r>
              <a:rPr sz="6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/>
            <a:r>
              <a:rPr sz="4000" b="1" i="0">
                <a:solidFill>
                  <a:srgbClr val="3ECFA0"/>
                </a:solidFill>
                <a:latin typeface="Calibri"/>
              </a:rPr>
              <a:t>Free.</a:t>
            </a:r>
          </a:p>
          <a:p>
            <a:pPr algn="ctr"/>
            <a:r>
              <a:rPr sz="4000" b="1" i="0">
                <a:solidFill>
                  <a:srgbClr val="3ECFA0"/>
                </a:solidFill>
                <a:latin typeface="Calibri"/>
              </a:rPr>
              <a:t> Until you do.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99713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B3B3B3"/>
                </a:solidFill>
                <a:latin typeface="Calibri"/>
              </a:rPr>
              <a:t>We can offer this because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/>
            <a:r>
              <a:rPr sz="4800" b="1" i="0">
                <a:solidFill>
                  <a:srgbClr val="FFFFFF"/>
                </a:solidFill>
                <a:latin typeface="Calibri"/>
              </a:rPr>
              <a:t>the </a:t>
            </a:r>
          </a:p>
          <a:p>
            <a:pPr algn="ctr"/>
            <a:r>
              <a:rPr sz="4800" b="1" i="0">
                <a:solidFill>
                  <a:srgbClr val="3ECFA0"/>
                </a:solidFill>
                <a:latin typeface="Calibri"/>
              </a:rPr>
              <a:t>system works.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/>
            <a:r>
              <a:rPr sz="2200" b="0" i="0">
                <a:solidFill>
                  <a:srgbClr val="B3B3B3"/>
                </a:solidFill>
                <a:latin typeface="Calibri"/>
              </a:rPr>
              <a:t>25 students have already proved it.
Multiple times over.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99713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ECFA0"/>
                </a:solidFill>
                <a:latin typeface="Calibri"/>
              </a:rPr>
              <a:t>THE NEXT STEP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/>
            <a:r>
              <a:rPr sz="4800" b="0" i="0">
                <a:solidFill>
                  <a:srgbClr val="FFFFFF"/>
                </a:solidFill>
                <a:latin typeface="Calibri"/>
              </a:rPr>
              <a:t>Book Your Free</a:t>
            </a:r>
          </a:p>
          <a:p>
            <a:pPr algn="ctr"/>
            <a:r>
              <a:rPr sz="5200" b="1" i="0">
                <a:solidFill>
                  <a:srgbClr val="3ECFA0"/>
                </a:solidFill>
                <a:latin typeface="Calibri"/>
              </a:rPr>
              <a:t>30-Minute Strategy Call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/>
            <a:r>
              <a:rPr sz="2200" b="0" i="0">
                <a:solidFill>
                  <a:srgbClr val="B3B3B3"/>
                </a:solidFill>
                <a:latin typeface="Calibri"/>
              </a:rPr>
              <a:t>We map out your plan. You decide if
Property Labs is right for you. Zero pressure.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99713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ECFA0"/>
                </a:solidFill>
                <a:latin typeface="Calibri"/>
              </a:rPr>
              <a:t>SCAN OR GO TO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/>
            <a:r>
              <a:rPr sz="5200" b="0" i="0">
                <a:solidFill>
                  <a:srgbClr val="FFFFFF"/>
                </a:solidFill>
                <a:latin typeface="Calibri"/>
              </a:rPr>
              <a:t>propertylabs.co.uk/call</a:t>
            </a:r>
          </a:p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/>
            <a:r>
              <a:rPr sz="3200" b="1" i="0">
                <a:solidFill>
                  <a:srgbClr val="3ECFA0"/>
                </a:solidFill>
                <a:latin typeface="Calibri"/>
              </a:rPr>
              <a:t>Book Free Strategy Call →</a:t>
            </a:r>
          </a:p>
          <a:p>
            <a:pPr algn="ctr"/>
            <a:r>
              <a:rPr sz="6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/>
            <a:r>
              <a:rPr sz="1600" b="0" i="0">
                <a:solidFill>
                  <a:srgbClr val="B3B3B3"/>
                </a:solidFill>
                <a:latin typeface="Calibri"/>
              </a:rPr>
              <a:t>Limited spots available. First come, first served.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99713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B3B3B3"/>
                </a:solidFill>
                <a:latin typeface="Calibri"/>
              </a:rPr>
              <a:t>Before you decide, let me answer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/>
            <a:r>
              <a:rPr sz="4800" b="1" i="0">
                <a:solidFill>
                  <a:srgbClr val="FFFFFF"/>
                </a:solidFill>
                <a:latin typeface="Calibri"/>
              </a:rPr>
              <a:t>what you're </a:t>
            </a:r>
          </a:p>
          <a:p>
            <a:pPr algn="ctr"/>
            <a:r>
              <a:rPr sz="4800" b="1" i="0">
                <a:solidFill>
                  <a:srgbClr val="3ECFA0"/>
                </a:solidFill>
                <a:latin typeface="Calibri"/>
              </a:rPr>
              <a:t>really</a:t>
            </a:r>
          </a:p>
          <a:p>
            <a:pPr algn="ctr"/>
            <a:r>
              <a:rPr sz="4800" b="1" i="0">
                <a:solidFill>
                  <a:srgbClr val="FFFFFF"/>
                </a:solidFill>
                <a:latin typeface="Calibri"/>
              </a:rPr>
              <a:t> thinking.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80160" y="914400"/>
            <a:ext cx="999713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B3B3B3"/>
                </a:solidFill>
                <a:latin typeface="Calibri"/>
              </a:rPr>
              <a:t>"I don't have the money to invest."</a:t>
            </a:r>
          </a:p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200" b="0" i="0">
                <a:solidFill>
                  <a:srgbClr val="3ECFA0"/>
                </a:solidFill>
                <a:latin typeface="Calibri"/>
              </a:rPr>
              <a:t>────────────────────</a:t>
            </a:r>
          </a:p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Capital raising IS the system.
That's literally what we teach first.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80160" y="914400"/>
            <a:ext cx="999713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B3B3B3"/>
                </a:solidFill>
                <a:latin typeface="Calibri"/>
              </a:rPr>
              <a:t>"Will this actually work for someone like me?"</a:t>
            </a:r>
          </a:p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200" b="0" i="0">
                <a:solidFill>
                  <a:srgbClr val="3ECFA0"/>
                </a:solidFill>
                <a:latin typeface="Calibri"/>
              </a:rPr>
              <a:t>────────────────────</a:t>
            </a:r>
          </a:p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Ihab. Andrew. Dylan. Elite Kleans.
25 different people. Different backgrounds. Same system. Same results.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80160" y="914400"/>
            <a:ext cx="999713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B3B3B3"/>
                </a:solidFill>
                <a:latin typeface="Calibri"/>
              </a:rPr>
              <a:t>"I'm scared of making the wrong move."</a:t>
            </a:r>
          </a:p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200" b="0" i="0">
                <a:solidFill>
                  <a:srgbClr val="3ECFA0"/>
                </a:solidFill>
                <a:latin typeface="Calibri"/>
              </a:rPr>
              <a:t>────────────────────</a:t>
            </a:r>
          </a:p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Educated risk with structured support is not reckless.
Staying stuck forever is.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80160" y="914400"/>
            <a:ext cx="999713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B3B3B3"/>
                </a:solidFill>
                <a:latin typeface="Calibri"/>
              </a:rPr>
              <a:t>"I'll think about it and maybe start later."</a:t>
            </a:r>
          </a:p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200" b="0" i="0">
                <a:solidFill>
                  <a:srgbClr val="3ECFA0"/>
                </a:solidFill>
                <a:latin typeface="Calibri"/>
              </a:rPr>
              <a:t>────────────────────</a:t>
            </a:r>
          </a:p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Every month you wait = £2,000–£4,000 of income lost.
6 months = £12,000 gone.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99713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0" b="1" i="0">
                <a:solidFill>
                  <a:srgbClr val="3ECFA0"/>
                </a:solidFill>
                <a:latin typeface="Calibri"/>
              </a:rPr>
              <a:t>£12,000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/>
            <a:r>
              <a:rPr sz="2200" b="0" i="0">
                <a:solidFill>
                  <a:srgbClr val="B3B3B3"/>
                </a:solidFill>
                <a:latin typeface="Calibri"/>
              </a:rPr>
              <a:t>lost in 6 months of inaction.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80160" y="914400"/>
            <a:ext cx="999713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B3B3B3"/>
                </a:solidFill>
                <a:latin typeface="Calibri"/>
              </a:rPr>
              <a:t>"Isn't Airbnb saturated by now?"</a:t>
            </a:r>
          </a:p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200" b="0" i="0">
                <a:solidFill>
                  <a:srgbClr val="3ECFA0"/>
                </a:solidFill>
                <a:latin typeface="Calibri"/>
              </a:rPr>
              <a:t>────────────────────</a:t>
            </a:r>
          </a:p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93,000 landlords left. Amateurs cleared out.
Corporate demand at all-time high. Saturated? The opposite.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80160" y="914400"/>
            <a:ext cx="999713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B3B3B3"/>
                </a:solidFill>
                <a:latin typeface="Calibri"/>
              </a:rPr>
              <a:t>"I'm not experienced enough."</a:t>
            </a:r>
          </a:p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200" b="0" i="0">
                <a:solidFill>
                  <a:srgbClr val="3ECFA0"/>
                </a:solidFill>
                <a:latin typeface="Calibri"/>
              </a:rPr>
              <a:t>────────────────────</a:t>
            </a:r>
          </a:p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I started on an air mattress. Ihab had zero property experience.
Experience isn't the entry requirement.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80160" y="914400"/>
            <a:ext cx="999713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B3B3B3"/>
                </a:solidFill>
                <a:latin typeface="Calibri"/>
              </a:rPr>
              <a:t>"I just need a bit more time to think."</a:t>
            </a:r>
          </a:p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200" b="0" i="0">
                <a:solidFill>
                  <a:srgbClr val="3ECFA0"/>
                </a:solidFill>
                <a:latin typeface="Calibri"/>
              </a:rPr>
              <a:t>────────────────────</a:t>
            </a:r>
          </a:p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Pain of discipline is temporary.
Pain of regret is permanent.
The people who acted last year are cash flowing today.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80160" y="914400"/>
            <a:ext cx="999713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B3B3B3"/>
                </a:solidFill>
                <a:latin typeface="Calibri"/>
              </a:rPr>
              <a:t>"I can't fit this around my job."</a:t>
            </a:r>
          </a:p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200" b="0" i="0">
                <a:solidFill>
                  <a:srgbClr val="3ECFA0"/>
                </a:solidFill>
                <a:latin typeface="Calibri"/>
              </a:rPr>
              <a:t>────────────────────</a:t>
            </a:r>
          </a:p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Andrew. Masters student. Accountant. 3 units running.
5–10 hours per week. The system is built around your life.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99713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B3B3B3"/>
                </a:solidFill>
                <a:latin typeface="Calibri"/>
              </a:rPr>
              <a:t>Any other question you have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ask it on the </a:t>
            </a:r>
          </a:p>
          <a:p>
            <a:pPr algn="ctr"/>
            <a:r>
              <a:rPr sz="4400" b="1" i="0">
                <a:solidFill>
                  <a:srgbClr val="3ECFA0"/>
                </a:solidFill>
                <a:latin typeface="Calibri"/>
              </a:rPr>
              <a:t>strategy call.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99713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ECFA0"/>
                </a:solidFill>
                <a:latin typeface="Calibri"/>
              </a:rPr>
              <a:t>RIGHT NOW — WHILE YOU STILL FEEL IT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/>
            <a:r>
              <a:rPr sz="4800" b="1" i="0">
                <a:solidFill>
                  <a:srgbClr val="3ECFA0"/>
                </a:solidFill>
                <a:latin typeface="Calibri"/>
              </a:rPr>
              <a:t>Book Your Free Strategy Call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/>
            <a:r>
              <a:rPr sz="4400" b="0" i="0">
                <a:solidFill>
                  <a:srgbClr val="FFFFFF"/>
                </a:solidFill>
                <a:latin typeface="Calibri"/>
              </a:rPr>
              <a:t>propertylabs.co.uk/call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/>
            <a:r>
              <a:rPr sz="2800" b="1" i="0">
                <a:solidFill>
                  <a:srgbClr val="3ECFA0"/>
                </a:solidFill>
                <a:latin typeface="Calibri"/>
              </a:rPr>
              <a:t>Book Now →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99713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B3B3B3"/>
                </a:solidFill>
                <a:latin typeface="Calibri"/>
              </a:rPr>
              <a:t>Before you decide,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/>
            <a:r>
              <a:rPr sz="4800" b="1" i="0">
                <a:solidFill>
                  <a:srgbClr val="FFFFFF"/>
                </a:solidFill>
                <a:latin typeface="Calibri"/>
              </a:rPr>
              <a:t>let me paint you </a:t>
            </a:r>
          </a:p>
          <a:p>
            <a:pPr algn="ctr"/>
            <a:r>
              <a:rPr sz="4800" b="1" i="0">
                <a:solidFill>
                  <a:srgbClr val="3ECFA0"/>
                </a:solidFill>
                <a:latin typeface="Calibri"/>
              </a:rPr>
              <a:t>two pictures.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99713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ECFA0"/>
                </a:solidFill>
                <a:latin typeface="Calibri"/>
              </a:rPr>
              <a:t>PICTURE ONE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/>
            <a:r>
              <a:rPr sz="6400" b="0" i="0">
                <a:solidFill>
                  <a:srgbClr val="B3B3B3"/>
                </a:solidFill>
                <a:latin typeface="Calibri"/>
              </a:rPr>
              <a:t>April 2027.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80160" y="914400"/>
            <a:ext cx="999713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ECFA0"/>
                </a:solidFill>
                <a:latin typeface="Calibri"/>
              </a:rPr>
              <a:t>APRIL 2027 — PATH ONE</a:t>
            </a:r>
          </a:p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4000" b="0" i="0">
                <a:solidFill>
                  <a:srgbClr val="B3B3B3"/>
                </a:solidFill>
                <a:latin typeface="Calibri"/>
              </a:rPr>
              <a:t>Same salary.</a:t>
            </a:r>
          </a:p>
          <a:p>
            <a:pPr algn="l"/>
            <a:r>
              <a:rPr sz="4000" b="0" i="0">
                <a:solidFill>
                  <a:srgbClr val="B3B3B3"/>
                </a:solidFill>
                <a:latin typeface="Calibri"/>
              </a:rPr>
              <a:t>Same rent.</a:t>
            </a:r>
          </a:p>
          <a:p>
            <a:pPr algn="l"/>
            <a:r>
              <a:rPr sz="4000" b="0" i="0">
                <a:solidFill>
                  <a:srgbClr val="B3B3B3"/>
                </a:solidFill>
                <a:latin typeface="Calibri"/>
              </a:rPr>
              <a:t>Same Sunday dread.</a:t>
            </a:r>
          </a:p>
          <a:p>
            <a:pPr algn="l"/>
            <a:r>
              <a:rPr sz="6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3600" b="1" i="0">
                <a:solidFill>
                  <a:srgbClr val="3ECFA0"/>
                </a:solidFill>
                <a:latin typeface="Calibri"/>
              </a:rPr>
              <a:t>Same scroll. Wondering what if.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99713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ECFA0"/>
                </a:solidFill>
                <a:latin typeface="Calibri"/>
              </a:rPr>
              <a:t>PICTURE TWO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/>
            <a:r>
              <a:rPr sz="6400" b="1" i="0">
                <a:solidFill>
                  <a:srgbClr val="3ECFA0"/>
                </a:solidFill>
                <a:latin typeface="Calibri"/>
              </a:rPr>
              <a:t>April 2027.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80160" y="914400"/>
            <a:ext cx="999713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ECFA0"/>
                </a:solidFill>
                <a:latin typeface="Calibri"/>
              </a:rPr>
              <a:t>APRIL 2027 — PATH TWO</a:t>
            </a:r>
          </a:p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4000" b="0" i="0">
                <a:solidFill>
                  <a:srgbClr val="FFFFFF"/>
                </a:solidFill>
                <a:latin typeface="Calibri"/>
              </a:rPr>
              <a:t>First Airbnb live.</a:t>
            </a:r>
          </a:p>
          <a:p>
            <a:pPr algn="l"/>
            <a:r>
              <a:rPr sz="6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4000" b="1" i="0">
                <a:solidFill>
                  <a:srgbClr val="3ECFA0"/>
                </a:solidFill>
                <a:latin typeface="Calibri"/>
              </a:rPr>
              <a:t>£2,000–£4,000/month coming in.</a:t>
            </a:r>
          </a:p>
          <a:p>
            <a:pPr algn="l"/>
            <a:r>
              <a:rPr sz="6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4000" b="0" i="0">
                <a:solidFill>
                  <a:srgbClr val="FFFFFF"/>
                </a:solidFill>
                <a:latin typeface="Calibri"/>
              </a:rPr>
              <a:t>Second unit loading.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99713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B3B3B3"/>
                </a:solidFill>
                <a:latin typeface="Calibri"/>
              </a:rPr>
              <a:t>Your parents don't just think you've done well.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/>
            <a:r>
              <a:rPr sz="5200" b="1" i="0">
                <a:solidFill>
                  <a:srgbClr val="FFFFFF"/>
                </a:solidFill>
                <a:latin typeface="Calibri"/>
              </a:rPr>
              <a:t>They </a:t>
            </a:r>
          </a:p>
          <a:p>
            <a:pPr algn="ctr"/>
            <a:r>
              <a:rPr sz="5200" b="1" i="0">
                <a:solidFill>
                  <a:srgbClr val="3ECFA0"/>
                </a:solidFill>
                <a:latin typeface="Calibri"/>
              </a:rPr>
              <a:t>know.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99713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 i="0">
                <a:solidFill>
                  <a:srgbClr val="FFFFFF"/>
                </a:solidFill>
                <a:latin typeface="Calibri"/>
              </a:rPr>
              <a:t>For the first time,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/>
            <a:r>
              <a:rPr sz="5600" b="1" i="0">
                <a:solidFill>
                  <a:srgbClr val="3ECFA0"/>
                </a:solidFill>
                <a:latin typeface="Calibri"/>
              </a:rPr>
              <a:t>you feel free.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99713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ECFA0"/>
                </a:solidFill>
                <a:latin typeface="Calibri"/>
              </a:rPr>
              <a:t>THE SYSTEM THAT MAKES IT POSSIBLE</a:t>
            </a:r>
          </a:p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/>
            <a:r>
              <a:rPr sz="7200" b="1" i="0">
                <a:solidFill>
                  <a:srgbClr val="3ECFA0"/>
                </a:solidFill>
                <a:latin typeface="Calibri"/>
              </a:rPr>
              <a:t>C  →  C  →  C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/>
            <a:r>
              <a:rPr sz="2400" b="0" i="0">
                <a:solidFill>
                  <a:srgbClr val="B3B3B3"/>
                </a:solidFill>
                <a:latin typeface="Calibri"/>
              </a:rPr>
              <a:t>Credibility  →  Capital  →  Cash Flow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99713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 i="0">
                <a:solidFill>
                  <a:srgbClr val="3ECFA0"/>
                </a:solidFill>
                <a:latin typeface="Calibri"/>
              </a:rPr>
              <a:t>CAPITAL FOLLOWS
CONVICTION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99713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B3B3B3"/>
                </a:solidFill>
                <a:latin typeface="Calibri"/>
              </a:rPr>
              <a:t>Tonight's title was: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/>
            <a:r>
              <a:rPr sz="3200" b="0" i="0">
                <a:solidFill>
                  <a:srgbClr val="FFFFFF"/>
                </a:solidFill>
                <a:latin typeface="Calibri"/>
              </a:rPr>
              <a:t>"The 3C System: How Complete Beginners Are
Launching Profitable Airbnbs in 90 Days…"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99713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FFFFFF"/>
                </a:solidFill>
                <a:latin typeface="Calibri"/>
              </a:rPr>
              <a:t>I've shown you it works for complete beginners.</a:t>
            </a:r>
          </a:p>
          <a:p>
            <a:pPr algn="ctr"/>
            <a:r>
              <a:rPr sz="6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/>
            <a:r>
              <a:rPr sz="3200" b="0" i="0">
                <a:solidFill>
                  <a:srgbClr val="FFFFFF"/>
                </a:solidFill>
                <a:latin typeface="Calibri"/>
              </a:rPr>
              <a:t>I've shown you the system.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/>
            <a:r>
              <a:rPr sz="4800" b="1" i="0">
                <a:solidFill>
                  <a:srgbClr val="3ECFA0"/>
                </a:solidFill>
                <a:latin typeface="Calibri"/>
              </a:rPr>
              <a:t>The only missing piece is you.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99713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 i="0">
                <a:solidFill>
                  <a:srgbClr val="3ECFA0"/>
                </a:solidFill>
                <a:latin typeface="Calibri"/>
              </a:rPr>
              <a:t>BOOK YOUR FREE STRATEGY CALL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/>
            <a:r>
              <a:rPr sz="4400" b="0" i="0">
                <a:solidFill>
                  <a:srgbClr val="FFFFFF"/>
                </a:solidFill>
                <a:latin typeface="Calibri"/>
              </a:rPr>
              <a:t>propertylabs.co.uk/call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/>
            <a:r>
              <a:rPr sz="2800" b="1" i="0">
                <a:solidFill>
                  <a:srgbClr val="3ECFA0"/>
                </a:solidFill>
                <a:latin typeface="Calibri"/>
              </a:rPr>
              <a:t>Book Now — It's Free →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99713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 i="1">
                <a:solidFill>
                  <a:srgbClr val="FFFFFF"/>
                </a:solidFill>
                <a:latin typeface="Calibri"/>
              </a:rPr>
              <a:t>"One year from now, you'll wish
you'd started tonight."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99713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ECFA0"/>
                </a:solidFill>
                <a:latin typeface="Calibri"/>
              </a:rPr>
              <a:t>LET'S TALK</a:t>
            </a:r>
          </a:p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/>
            <a:r>
              <a:rPr sz="8000" b="1" i="0">
                <a:solidFill>
                  <a:srgbClr val="3ECFA0"/>
                </a:solidFill>
                <a:latin typeface="Calibri"/>
              </a:rPr>
              <a:t>Q&amp;A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/>
            <a:r>
              <a:rPr sz="2000" b="0" i="0">
                <a:solidFill>
                  <a:srgbClr val="B3B3B3"/>
                </a:solidFill>
                <a:latin typeface="Calibri"/>
              </a:rPr>
              <a:t>Your questions, answered. Fire away.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99713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B3B3B3"/>
                </a:solidFill>
                <a:latin typeface="Calibri"/>
              </a:rPr>
              <a:t>While you think of questions,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remember — the strategy call is </a:t>
            </a:r>
          </a:p>
          <a:p>
            <a:pPr algn="ctr"/>
            <a:r>
              <a:rPr sz="4400" b="1" i="0">
                <a:solidFill>
                  <a:srgbClr val="3ECFA0"/>
                </a:solidFill>
                <a:latin typeface="Calibri"/>
              </a:rPr>
              <a:t>free.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/>
            <a:r>
              <a:rPr sz="2400" b="0" i="0">
                <a:solidFill>
                  <a:srgbClr val="B3B3B3"/>
                </a:solidFill>
                <a:latin typeface="Calibri"/>
              </a:rPr>
              <a:t>No commitment. No pressure. Just a plan.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99713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ECFA0"/>
                </a:solidFill>
                <a:latin typeface="Calibri"/>
              </a:rPr>
              <a:t>BOOK RIGHT NOW WHILE WE TALK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/>
            <a:r>
              <a:rPr sz="5200" b="0" i="0">
                <a:solidFill>
                  <a:srgbClr val="FFFFFF"/>
                </a:solidFill>
                <a:latin typeface="Calibri"/>
              </a:rPr>
              <a:t>propertylabs.co.uk/call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/>
            <a:r>
              <a:rPr sz="3200" b="1" i="0">
                <a:solidFill>
                  <a:srgbClr val="3ECFA0"/>
                </a:solidFill>
                <a:latin typeface="Calibri"/>
              </a:rPr>
              <a:t>Secure Your Spot →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99713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ECFA0"/>
                </a:solidFill>
                <a:latin typeface="Calibri"/>
              </a:rPr>
              <a:t>THANK YOU FOR BEING HERE TONIGHT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/>
            <a:r>
              <a:rPr sz="5600" b="0" i="0">
                <a:solidFill>
                  <a:srgbClr val="FFFFFF"/>
                </a:solidFill>
                <a:latin typeface="Calibri"/>
              </a:rPr>
              <a:t>Property Labs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/>
            <a:r>
              <a:rPr sz="2800" b="0" i="0">
                <a:solidFill>
                  <a:srgbClr val="B3B3B3"/>
                </a:solidFill>
                <a:latin typeface="Calibri"/>
              </a:rPr>
              <a:t>Terry Dwobeng</a:t>
            </a:r>
          </a:p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/>
            <a:r>
              <a:rPr sz="1200" b="1" i="0">
                <a:solidFill>
                  <a:srgbClr val="282828"/>
                </a:solidFill>
                <a:latin typeface="Calibri"/>
              </a:rPr>
              <a:t>PROPERTY LABS · propertylabs.co.uk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99713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3ECFA0"/>
                </a:solidFill>
                <a:latin typeface="Calibri"/>
              </a:rPr>
              <a:t>Book Your Free Strategy Call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/>
            <a:r>
              <a:rPr sz="4400" b="0" i="0">
                <a:solidFill>
                  <a:srgbClr val="FFFFFF"/>
                </a:solidFill>
                <a:latin typeface="Calibri"/>
              </a:rPr>
              <a:t>propertylabs.co.uk/call</a:t>
            </a:r>
          </a:p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/>
            <a:r>
              <a:rPr sz="1800" b="0" i="0">
                <a:solidFill>
                  <a:srgbClr val="B3B3B3"/>
                </a:solidFill>
                <a:latin typeface="Calibri"/>
              </a:rPr>
              <a:t>14 units. £50k/month. Zero own capital.
The system is proven. Your turn.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